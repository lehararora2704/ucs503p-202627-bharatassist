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1097280"/>
            <a:ext cx="4663440" cy="4663440"/>
          </a:xfrm>
          <a:prstGeom prst="ellipse">
            <a:avLst/>
          </a:prstGeom>
          <a:ln w="317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3429000"/>
            <a:ext cx="1276502" cy="9144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88920" y="3653831"/>
            <a:ext cx="1233007" cy="330383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02139" y="3863340"/>
            <a:ext cx="1105484" cy="638251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64090" y="4043250"/>
            <a:ext cx="902624" cy="902624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84180" y="4181299"/>
            <a:ext cx="638251" cy="1105484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74671" y="4268080"/>
            <a:ext cx="330383" cy="1233007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49840" y="4297680"/>
            <a:ext cx="9144" cy="1276502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9594626" y="4268080"/>
            <a:ext cx="330383" cy="1233007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9077249" y="4181299"/>
            <a:ext cx="638251" cy="1105484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8632967" y="4043250"/>
            <a:ext cx="902624" cy="902624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8292058" y="3863340"/>
            <a:ext cx="1105484" cy="638251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8077753" y="3653831"/>
            <a:ext cx="1233007" cy="330383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8004658" y="3429000"/>
            <a:ext cx="1276502" cy="9144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77753" y="2873786"/>
            <a:ext cx="1233007" cy="330383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92058" y="2356409"/>
            <a:ext cx="1105484" cy="638251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32967" y="1912127"/>
            <a:ext cx="902624" cy="902624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77249" y="1571218"/>
            <a:ext cx="638251" cy="1105484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94626" y="1356913"/>
            <a:ext cx="330383" cy="1233007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49840" y="1283818"/>
            <a:ext cx="9144" cy="1276502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10374671" y="1356913"/>
            <a:ext cx="330383" cy="1233007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10584180" y="1571218"/>
            <a:ext cx="638251" cy="1105484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10764090" y="1912127"/>
            <a:ext cx="902624" cy="902624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10902139" y="2356409"/>
            <a:ext cx="1105484" cy="638251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10988920" y="2873786"/>
            <a:ext cx="1233007" cy="330383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871862" y="3151022"/>
            <a:ext cx="555955" cy="5559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566928"/>
            <a:ext cx="502920" cy="109728"/>
          </a:xfrm>
          <a:prstGeom prst="rect">
            <a:avLst/>
          </a:prstGeom>
          <a:solidFill>
            <a:srgbClr val="FF9933"/>
          </a:solidFill>
          <a:ln/>
        </p:spPr>
      </p:sp>
      <p:sp>
        <p:nvSpPr>
          <p:cNvPr id="29" name="Shape 27"/>
          <p:cNvSpPr/>
          <p:nvPr/>
        </p:nvSpPr>
        <p:spPr>
          <a:xfrm>
            <a:off x="640080" y="676656"/>
            <a:ext cx="502920" cy="109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" y="786384"/>
            <a:ext cx="502920" cy="109728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UCS503P  •  PROJECT PROGRESS PRESENTATION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94360" y="260604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BharatAssist</a:t>
            </a:r>
            <a:endParaRPr lang="en-US" sz="6000" dirty="0"/>
          </a:p>
        </p:txBody>
      </p:sp>
      <p:sp>
        <p:nvSpPr>
          <p:cNvPr id="33" name="Text 31"/>
          <p:cNvSpPr/>
          <p:nvPr/>
        </p:nvSpPr>
        <p:spPr>
          <a:xfrm>
            <a:off x="640080" y="3703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Simplifying Government Services for Every Citizen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40080" y="434340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6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privacy-aware, RAG-grounded platform that helps citizens discover, understand,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6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navigate Indian government services with confidence.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5989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to: Course Instructor  |  Team BharatAssist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" y="6263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Aastha Mahajan   •   Bhanurekha Ganesan   •   Vidya Vaidyanathan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FF99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citizens struggle with government services today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51660" y="2240280"/>
            <a:ext cx="1005840" cy="1005840"/>
          </a:xfrm>
          <a:prstGeom prst="ellipse">
            <a:avLst/>
          </a:prstGeom>
          <a:solidFill>
            <a:srgbClr val="FF993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icons/map_sig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2828" y="2441448"/>
            <a:ext cx="603504" cy="6035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4747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Scattered Information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11480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rules, documents, and steps for schemes like PAN, ration card, or PM-KISAN are spread across dozens of disconnected government portals.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9120" y="187452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00700" y="2240280"/>
            <a:ext cx="1005840" cy="1005840"/>
          </a:xfrm>
          <a:prstGeom prst="ellipse">
            <a:avLst/>
          </a:prstGeom>
          <a:solidFill>
            <a:srgbClr val="138808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/home/claude/icons/hourgl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1868" y="2441448"/>
            <a:ext cx="603504" cy="6035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34747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Time-Consuming Process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63440" y="411480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applicants waste hours decoding dense notices and legal language just to figure out which documents and steps actually apply to them.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8160" y="187452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349740" y="2240280"/>
            <a:ext cx="1005840" cy="1005840"/>
          </a:xfrm>
          <a:prstGeom prst="ellipse">
            <a:avLst/>
          </a:prstGeom>
          <a:solidFill>
            <a:srgbClr val="0B1F5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2" descr="/home/claude/icons/user_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0908" y="2441448"/>
            <a:ext cx="603504" cy="6035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66760" y="34747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Concerns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412480" y="411480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personal documents with generic AI tools risks exposing sensitive identifiers such as Aadhaar, PAN, or phone numbers.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388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BharatAssist is built to close this gap — a single, trustworthy, privacy-first entry point.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BharatAssist  |  UCS503P Project Progress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BharatAssist is designed to deliver, in functional and non-functional terms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FFF6EC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874520"/>
            <a:ext cx="594360" cy="594360"/>
          </a:xfrm>
          <a:prstGeom prst="ellipse">
            <a:avLst/>
          </a:prstGeom>
          <a:solidFill>
            <a:srgbClr val="FF993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icons/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00253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20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606040"/>
            <a:ext cx="46634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 government services by category and state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eligibility, required documents, and application steps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verified official source links for every service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uploaded government documents in plain language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redact common PII before any AI processing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RAG-grounded AI answers with a confidence indicator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user feedback and record evaluation metrics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26480" y="160020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ECF6EC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82512" y="1874520"/>
            <a:ext cx="594360" cy="594360"/>
          </a:xfrm>
          <a:prstGeom prst="ellipse">
            <a:avLst/>
          </a:prstGeom>
          <a:solidFill>
            <a:srgbClr val="138808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/home/claude/icons/shield_a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200253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920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00800" y="2606040"/>
            <a:ext cx="46634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response time must be measured and reported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redacted before it reaches any external AI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must be usable by first-time, non-technical users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data maintainable independently of application logic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or unexpected inputs handled gracefully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functionality covered by automated tests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deployed change validated through CI/CD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BharatAssist  |  UCS503P Project Progress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1F5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6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privacy-first pipeline from citizen query to grounded, verified answer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718304" y="1325880"/>
            <a:ext cx="2743200" cy="566928"/>
          </a:xfrm>
          <a:prstGeom prst="roundRect">
            <a:avLst>
              <a:gd name="adj" fmla="val 14516"/>
            </a:avLst>
          </a:prstGeom>
          <a:solidFill>
            <a:srgbClr val="0B1F51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18304" y="13258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/ User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9904" y="1892808"/>
            <a:ext cx="9144" cy="256032"/>
          </a:xfrm>
          <a:prstGeom prst="line">
            <a:avLst/>
          </a:prstGeom>
          <a:noFill/>
          <a:ln w="25400">
            <a:solidFill>
              <a:srgbClr val="9AA3B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718304" y="2148840"/>
            <a:ext cx="2743200" cy="566928"/>
          </a:xfrm>
          <a:prstGeom prst="roundRect">
            <a:avLst>
              <a:gd name="adj" fmla="val 14516"/>
            </a:avLst>
          </a:prstGeom>
          <a:solidFill>
            <a:srgbClr val="FF9933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18304" y="214884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 (Bootstrap · HTML/CSS/JS)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9904" y="2715768"/>
            <a:ext cx="9144" cy="256032"/>
          </a:xfrm>
          <a:prstGeom prst="line">
            <a:avLst/>
          </a:prstGeom>
          <a:noFill/>
          <a:ln w="25400">
            <a:solidFill>
              <a:srgbClr val="9AA3B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46704" y="2971800"/>
            <a:ext cx="5486400" cy="566928"/>
          </a:xfrm>
          <a:prstGeom prst="roundRect">
            <a:avLst>
              <a:gd name="adj" fmla="val 14516"/>
            </a:avLst>
          </a:prstGeom>
          <a:solidFill>
            <a:srgbClr val="138808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46704" y="297180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  (Routing · Confidence Threshold Logic)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63140" y="3538728"/>
            <a:ext cx="7040880" cy="914"/>
          </a:xfrm>
          <a:prstGeom prst="line">
            <a:avLst/>
          </a:prstGeom>
          <a:noFill/>
          <a:ln w="25400">
            <a:solidFill>
              <a:srgbClr val="9AA3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63140" y="3538728"/>
            <a:ext cx="914" cy="621792"/>
          </a:xfrm>
          <a:prstGeom prst="line">
            <a:avLst/>
          </a:prstGeom>
          <a:noFill/>
          <a:ln w="25400">
            <a:solidFill>
              <a:srgbClr val="9AA3B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783580" y="3538728"/>
            <a:ext cx="914" cy="621792"/>
          </a:xfrm>
          <a:prstGeom prst="line">
            <a:avLst/>
          </a:prstGeom>
          <a:noFill/>
          <a:ln w="25400">
            <a:solidFill>
              <a:srgbClr val="9AA3B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304020" y="3538728"/>
            <a:ext cx="914" cy="621792"/>
          </a:xfrm>
          <a:prstGeom prst="line">
            <a:avLst/>
          </a:prstGeom>
          <a:noFill/>
          <a:ln w="25400">
            <a:solidFill>
              <a:srgbClr val="9AA3B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0080" y="4160520"/>
            <a:ext cx="3246120" cy="868680"/>
          </a:xfrm>
          <a:prstGeom prst="roundRect">
            <a:avLst>
              <a:gd name="adj" fmla="val 9474"/>
            </a:avLst>
          </a:prstGeom>
          <a:solidFill>
            <a:srgbClr val="4A5A8A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4215384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544568"/>
            <a:ext cx="324612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seeded government services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60520" y="4160520"/>
            <a:ext cx="3246120" cy="868680"/>
          </a:xfrm>
          <a:prstGeom prst="roundRect">
            <a:avLst>
              <a:gd name="adj" fmla="val 9474"/>
            </a:avLst>
          </a:prstGeom>
          <a:solidFill>
            <a:srgbClr val="4A5A8A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60520" y="4215384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60520" y="4544568"/>
            <a:ext cx="324612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+ Sentence-Transformer + Gemini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680960" y="4160520"/>
            <a:ext cx="3246120" cy="868680"/>
          </a:xfrm>
          <a:prstGeom prst="roundRect">
            <a:avLst>
              <a:gd name="adj" fmla="val 9474"/>
            </a:avLst>
          </a:prstGeom>
          <a:solidFill>
            <a:srgbClr val="4A5A8A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680960" y="4215384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Layer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80960" y="4544568"/>
            <a:ext cx="324612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Regex-based PII redaction (Aadhaar/PAN/phone)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0080" y="523036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verified answer with source citations and a grounding confidence signal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BharatAssist  |  UCS503P Project Progress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Implemented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already built and working in the current prototype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56232"/>
            <a:ext cx="777240" cy="777240"/>
          </a:xfrm>
          <a:prstGeom prst="ellipse">
            <a:avLst/>
          </a:prstGeom>
          <a:solidFill>
            <a:srgbClr val="FF993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020824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82880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Search &amp; Filters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278892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20 government services by category and state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16552" y="160020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45152" y="1856232"/>
            <a:ext cx="777240" cy="777240"/>
          </a:xfrm>
          <a:prstGeom prst="ellipse">
            <a:avLst/>
          </a:prstGeom>
          <a:solidFill>
            <a:srgbClr val="138808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/home/claude/icons/file_a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2020824"/>
            <a:ext cx="448056" cy="4480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9552" y="182880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Simplifier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45152" y="278892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dense notices into plain-language explanations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93024" y="160020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21624" y="1856232"/>
            <a:ext cx="777240" cy="777240"/>
          </a:xfrm>
          <a:prstGeom prst="ellipse">
            <a:avLst/>
          </a:prstGeom>
          <a:solidFill>
            <a:srgbClr val="0B1F5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/home/claude/icons/ro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216" y="2020824"/>
            <a:ext cx="448056" cy="4480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36024" y="182880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RAG-Grounded AI Assistant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21624" y="278892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Gemini-powered answers grounded in verified sources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06908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68680" y="4325112"/>
            <a:ext cx="777240" cy="777240"/>
          </a:xfrm>
          <a:prstGeom prst="ellipse">
            <a:avLst/>
          </a:prstGeom>
          <a:solidFill>
            <a:srgbClr val="0B1F5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3" descr="/home/claude/icons/user_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4489704"/>
            <a:ext cx="448056" cy="4480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83080" y="42976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PII Redaction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68680" y="525780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Aadhaar, PAN, phone &amp; email before any LLM call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16552" y="406908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45152" y="4325112"/>
            <a:ext cx="777240" cy="777240"/>
          </a:xfrm>
          <a:prstGeom prst="ellipse">
            <a:avLst/>
          </a:prstGeom>
          <a:solidFill>
            <a:srgbClr val="FF993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6" name="Image 4" descr="/home/claude/icons/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744" y="4489704"/>
            <a:ext cx="448056" cy="4480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59552" y="42976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Seeded Services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45152" y="525780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PAN, passport, ration card, PM-KISAN, Ayushman Bharat &amp; more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93024" y="406908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421624" y="4325112"/>
            <a:ext cx="777240" cy="777240"/>
          </a:xfrm>
          <a:prstGeom prst="ellipse">
            <a:avLst/>
          </a:prstGeom>
          <a:solidFill>
            <a:srgbClr val="138808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1" name="Image 5" descr="/home/claude/icons/check_circ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6216" y="4489704"/>
            <a:ext cx="448056" cy="4480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36024" y="42976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Threshold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421624" y="525780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says "I don’t know" instead of guessing when unsure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BharatAssist  |  UCS503P Project Progress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Quality Assurance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9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 of testing, backed by continuous integration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624328" cy="3886200"/>
          </a:xfrm>
          <a:prstGeom prst="roundRect">
            <a:avLst>
              <a:gd name="adj" fmla="val 3136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0764" y="1737360"/>
            <a:ext cx="822960" cy="822960"/>
          </a:xfrm>
          <a:prstGeom prst="ellipse">
            <a:avLst/>
          </a:prstGeom>
          <a:solidFill>
            <a:srgbClr val="FF993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icons/v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3644" y="19202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697480"/>
            <a:ext cx="2350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Tests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96112" y="3246120"/>
            <a:ext cx="216712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</a:t>
            </a:r>
            <a:endParaRPr lang="en-US" sz="108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08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calculations</a:t>
            </a:r>
            <a:endParaRPr lang="en-US" sz="108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helper functions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3483864" y="1463040"/>
            <a:ext cx="2624328" cy="3886200"/>
          </a:xfrm>
          <a:prstGeom prst="roundRect">
            <a:avLst>
              <a:gd name="adj" fmla="val 3136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84548" y="1737360"/>
            <a:ext cx="822960" cy="822960"/>
          </a:xfrm>
          <a:prstGeom prst="ellipse">
            <a:avLst/>
          </a:prstGeom>
          <a:solidFill>
            <a:srgbClr val="138808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/home/claude/icons/plu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428" y="19202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21024" y="2697480"/>
            <a:ext cx="2350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Tests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739896" y="3246120"/>
            <a:ext cx="216712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search</a:t>
            </a:r>
            <a:endParaRPr lang="en-US" sz="108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request validation</a:t>
            </a:r>
            <a:endParaRPr lang="en-US" sz="108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submission</a:t>
            </a:r>
            <a:endParaRPr lang="en-US" sz="108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requests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6327648" y="1463040"/>
            <a:ext cx="2624328" cy="3886200"/>
          </a:xfrm>
          <a:prstGeom prst="roundRect">
            <a:avLst>
              <a:gd name="adj" fmla="val 3136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228332" y="1737360"/>
            <a:ext cx="822960" cy="822960"/>
          </a:xfrm>
          <a:prstGeom prst="ellipse">
            <a:avLst/>
          </a:prstGeom>
          <a:solidFill>
            <a:srgbClr val="0B1F5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2" descr="/home/claude/icons/l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212" y="192024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4808" y="2697480"/>
            <a:ext cx="2350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Tests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583680" y="3246120"/>
            <a:ext cx="216712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retrieval + database</a:t>
            </a:r>
            <a:endParaRPr lang="en-US" sz="108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 + source metadata</a:t>
            </a:r>
            <a:endParaRPr lang="en-US" sz="108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processing + redaction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9171432" y="1463040"/>
            <a:ext cx="2624328" cy="3886200"/>
          </a:xfrm>
          <a:prstGeom prst="roundRect">
            <a:avLst>
              <a:gd name="adj" fmla="val 3136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0072116" y="1737360"/>
            <a:ext cx="822960" cy="822960"/>
          </a:xfrm>
          <a:prstGeom prst="ellipse">
            <a:avLst/>
          </a:prstGeom>
          <a:solidFill>
            <a:srgbClr val="7A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2" name="Image 3" descr="/home/claude/icons/shield_a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996" y="192024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08592" y="2697480"/>
            <a:ext cx="2350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Tests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427464" y="3246120"/>
            <a:ext cx="216712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filenames</a:t>
            </a:r>
            <a:endParaRPr lang="en-US" sz="108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Oversized uploads</a:t>
            </a:r>
            <a:endParaRPr lang="en-US" sz="108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XSS-safe rendering</a:t>
            </a:r>
            <a:endParaRPr lang="en-US" sz="108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Missing/invalid API keys</a:t>
            </a:r>
            <a:endParaRPr lang="en-US" sz="1080" dirty="0"/>
          </a:p>
        </p:txBody>
      </p:sp>
      <p:sp>
        <p:nvSpPr>
          <p:cNvPr id="25" name="Shape 19"/>
          <p:cNvSpPr/>
          <p:nvPr/>
        </p:nvSpPr>
        <p:spPr>
          <a:xfrm>
            <a:off x="640080" y="5623560"/>
            <a:ext cx="10881360" cy="68580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04672" y="5705856"/>
            <a:ext cx="530352" cy="530352"/>
          </a:xfrm>
          <a:prstGeom prst="ellipse">
            <a:avLst/>
          </a:prstGeom>
          <a:solidFill>
            <a:srgbClr val="FF993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7" name="Image 4" descr="/home/claude/icons/sync_al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815584"/>
            <a:ext cx="310896" cy="31089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08760" y="562356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Integration: GitHub Actions runs lint + full test suite automatically on every push.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BharatAssist  |  UCS503P Project Progress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&amp; Progress So Far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success, and where the project stands today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120640" cy="4572000"/>
          </a:xfrm>
          <a:prstGeom prst="roundRect">
            <a:avLst>
              <a:gd name="adj" fmla="val 1600"/>
            </a:avLst>
          </a:prstGeom>
          <a:solidFill>
            <a:srgbClr val="ECF6EC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10512"/>
            <a:ext cx="548640" cy="548640"/>
          </a:xfrm>
          <a:prstGeom prst="ellipse">
            <a:avLst/>
          </a:prstGeom>
          <a:solidFill>
            <a:srgbClr val="138808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icons/chart_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929384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468880"/>
            <a:ext cx="457200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&amp; median Information Retrieval Time (IRT)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 rate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relevance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Helpful-response rate (user feedback)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time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 / redaction rate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comparison vs. traditional govt-site search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35040" y="155448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FFF6EC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63640" y="1810512"/>
            <a:ext cx="548640" cy="548640"/>
          </a:xfrm>
          <a:prstGeom prst="ellipse">
            <a:avLst/>
          </a:prstGeom>
          <a:solidFill>
            <a:srgbClr val="FF993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/home/claude/icons/check_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929384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18288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Status: Week 1 Deliverables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355080" y="2450592"/>
            <a:ext cx="201168" cy="201168"/>
          </a:xfrm>
          <a:prstGeom prst="ellipse">
            <a:avLst/>
          </a:prstGeom>
          <a:solidFill>
            <a:srgbClr val="138808"/>
          </a:solidFill>
          <a:ln/>
        </p:spPr>
      </p:sp>
      <p:sp>
        <p:nvSpPr>
          <p:cNvPr id="14" name="Text 10"/>
          <p:cNvSpPr/>
          <p:nvPr/>
        </p:nvSpPr>
        <p:spPr>
          <a:xfrm>
            <a:off x="6720840" y="23500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architecture defined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355080" y="2907792"/>
            <a:ext cx="201168" cy="201168"/>
          </a:xfrm>
          <a:prstGeom prst="ellipse">
            <a:avLst/>
          </a:prstGeom>
          <a:solidFill>
            <a:srgbClr val="138808"/>
          </a:solidFill>
          <a:ln/>
        </p:spPr>
      </p:sp>
      <p:sp>
        <p:nvSpPr>
          <p:cNvPr id="16" name="Text 12"/>
          <p:cNvSpPr/>
          <p:nvPr/>
        </p:nvSpPr>
        <p:spPr>
          <a:xfrm>
            <a:off x="6720840" y="28072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real government services seeded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355080" y="3364992"/>
            <a:ext cx="201168" cy="201168"/>
          </a:xfrm>
          <a:prstGeom prst="ellipse">
            <a:avLst/>
          </a:prstGeom>
          <a:solidFill>
            <a:srgbClr val="138808"/>
          </a:solidFill>
          <a:ln/>
        </p:spPr>
      </p:sp>
      <p:sp>
        <p:nvSpPr>
          <p:cNvPr id="18" name="Text 14"/>
          <p:cNvSpPr/>
          <p:nvPr/>
        </p:nvSpPr>
        <p:spPr>
          <a:xfrm>
            <a:off x="6720840" y="32644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+ PII redaction working end-to-end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355080" y="3822192"/>
            <a:ext cx="201168" cy="201168"/>
          </a:xfrm>
          <a:prstGeom prst="ellipse">
            <a:avLst/>
          </a:prstGeom>
          <a:solidFill>
            <a:srgbClr val="138808"/>
          </a:solidFill>
          <a:ln/>
        </p:spPr>
      </p:sp>
      <p:sp>
        <p:nvSpPr>
          <p:cNvPr id="20" name="Text 16"/>
          <p:cNvSpPr/>
          <p:nvPr/>
        </p:nvSpPr>
        <p:spPr>
          <a:xfrm>
            <a:off x="6720840" y="37216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grounding verified on seeded queries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355080" y="4279392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2" name="Text 18"/>
          <p:cNvSpPr/>
          <p:nvPr/>
        </p:nvSpPr>
        <p:spPr>
          <a:xfrm>
            <a:off x="6720840" y="41788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 tuned on real query data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355080" y="4736592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4" name="Text 20"/>
          <p:cNvSpPr/>
          <p:nvPr/>
        </p:nvSpPr>
        <p:spPr>
          <a:xfrm>
            <a:off x="6720840" y="46360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IRT evaluation dashboard built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355080" y="5193792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2"/>
          <p:cNvSpPr/>
          <p:nvPr/>
        </p:nvSpPr>
        <p:spPr>
          <a:xfrm>
            <a:off x="6720840" y="50932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 production (Render)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6355080" y="5742432"/>
            <a:ext cx="146304" cy="146304"/>
          </a:xfrm>
          <a:prstGeom prst="ellipse">
            <a:avLst/>
          </a:prstGeom>
          <a:solidFill>
            <a:srgbClr val="138808"/>
          </a:solidFill>
          <a:ln/>
        </p:spPr>
      </p:sp>
      <p:sp>
        <p:nvSpPr>
          <p:cNvPr id="28" name="Text 24"/>
          <p:cNvSpPr/>
          <p:nvPr/>
        </p:nvSpPr>
        <p:spPr>
          <a:xfrm>
            <a:off x="6565392" y="565099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7863840" y="5742432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0" name="Text 26"/>
          <p:cNvSpPr/>
          <p:nvPr/>
        </p:nvSpPr>
        <p:spPr>
          <a:xfrm>
            <a:off x="8074152" y="56509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BharatAssist  |  UCS503P Project Progress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64040" y="137160"/>
            <a:ext cx="1828800" cy="1828800"/>
          </a:xfrm>
          <a:prstGeom prst="ellipse">
            <a:avLst/>
          </a:prstGeom>
          <a:ln w="19050">
            <a:solidFill>
              <a:srgbClr val="3A4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25912" y="1051560"/>
            <a:ext cx="493776" cy="9144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14072" y="1141492"/>
            <a:ext cx="476951" cy="127799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79360" y="1225296"/>
            <a:ext cx="427623" cy="246888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24140" y="1297260"/>
            <a:ext cx="349152" cy="349152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52176" y="1352480"/>
            <a:ext cx="246888" cy="427623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68372" y="1387192"/>
            <a:ext cx="127799" cy="476951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78440" y="1399032"/>
            <a:ext cx="9144" cy="493776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0160709" y="1387192"/>
            <a:ext cx="127799" cy="476951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9957816" y="1352480"/>
            <a:ext cx="246888" cy="427623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9783588" y="1297260"/>
            <a:ext cx="349152" cy="349152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9649898" y="1225296"/>
            <a:ext cx="427623" cy="246888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9565857" y="1141492"/>
            <a:ext cx="476951" cy="127799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9537192" y="1051560"/>
            <a:ext cx="493776" cy="9144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65857" y="833829"/>
            <a:ext cx="476951" cy="127799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49898" y="630936"/>
            <a:ext cx="427623" cy="246888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83588" y="456708"/>
            <a:ext cx="349152" cy="349152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57816" y="323018"/>
            <a:ext cx="246888" cy="427623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60709" y="238977"/>
            <a:ext cx="127799" cy="476951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378440" y="210312"/>
            <a:ext cx="9144" cy="493776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10468372" y="238977"/>
            <a:ext cx="127799" cy="476951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10552176" y="323018"/>
            <a:ext cx="246888" cy="427623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10624140" y="456708"/>
            <a:ext cx="349152" cy="349152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10679360" y="630936"/>
            <a:ext cx="427623" cy="246888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10714072" y="833829"/>
            <a:ext cx="476951" cy="127799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267249" y="940369"/>
            <a:ext cx="222382" cy="222382"/>
          </a:xfrm>
          <a:prstGeom prst="ellipse">
            <a:avLst/>
          </a:prstGeom>
          <a:solidFill>
            <a:srgbClr val="3A4A82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572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Next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40080" y="9875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6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for the remaining project timeline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1691640"/>
            <a:ext cx="2542032" cy="2331720"/>
          </a:xfrm>
          <a:prstGeom prst="roundRect">
            <a:avLst>
              <a:gd name="adj" fmla="val 3529"/>
            </a:avLst>
          </a:prstGeom>
          <a:solidFill>
            <a:srgbClr val="15265E"/>
          </a:solidFill>
          <a:ln w="12700">
            <a:solidFill>
              <a:srgbClr val="2E3F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1248" y="1892808"/>
            <a:ext cx="457200" cy="457200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32" name="Text 30"/>
          <p:cNvSpPr/>
          <p:nvPr/>
        </p:nvSpPr>
        <p:spPr>
          <a:xfrm>
            <a:off x="841248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1248" y="246888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Tune &amp; Deploy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41248" y="2926080"/>
            <a:ext cx="21396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6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confidence threshold on real queries; deploy to Render with CI-verified builds.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3410712" y="1691640"/>
            <a:ext cx="2542032" cy="2331720"/>
          </a:xfrm>
          <a:prstGeom prst="roundRect">
            <a:avLst>
              <a:gd name="adj" fmla="val 3529"/>
            </a:avLst>
          </a:prstGeom>
          <a:solidFill>
            <a:srgbClr val="15265E"/>
          </a:solidFill>
          <a:ln w="12700">
            <a:solidFill>
              <a:srgbClr val="2E3F7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11880" y="1892808"/>
            <a:ext cx="457200" cy="457200"/>
          </a:xfrm>
          <a:prstGeom prst="ellipse">
            <a:avLst/>
          </a:prstGeom>
          <a:solidFill>
            <a:srgbClr val="138808"/>
          </a:solidFill>
          <a:ln/>
        </p:spPr>
      </p:sp>
      <p:sp>
        <p:nvSpPr>
          <p:cNvPr id="37" name="Text 35"/>
          <p:cNvSpPr/>
          <p:nvPr/>
        </p:nvSpPr>
        <p:spPr>
          <a:xfrm>
            <a:off x="3611880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611880" y="246888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IRT Dashboard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3611880" y="2926080"/>
            <a:ext cx="21396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6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average/median retrieval time and grounding rate from existing search logs.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6181344" y="1691640"/>
            <a:ext cx="2542032" cy="2331720"/>
          </a:xfrm>
          <a:prstGeom prst="roundRect">
            <a:avLst>
              <a:gd name="adj" fmla="val 3529"/>
            </a:avLst>
          </a:prstGeom>
          <a:solidFill>
            <a:srgbClr val="15265E"/>
          </a:solidFill>
          <a:ln w="12700">
            <a:solidFill>
              <a:srgbClr val="2E3F7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82512" y="1892808"/>
            <a:ext cx="457200" cy="457200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42" name="Text 40"/>
          <p:cNvSpPr/>
          <p:nvPr/>
        </p:nvSpPr>
        <p:spPr>
          <a:xfrm>
            <a:off x="6382512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82512" y="246888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Multilingual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6382512" y="2926080"/>
            <a:ext cx="21396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6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assistant and simplifier prompts to respond in the citizen’s own language.</a:t>
            </a:r>
            <a:endParaRPr lang="en-US" sz="1080" dirty="0"/>
          </a:p>
        </p:txBody>
      </p:sp>
      <p:sp>
        <p:nvSpPr>
          <p:cNvPr id="45" name="Shape 43"/>
          <p:cNvSpPr/>
          <p:nvPr/>
        </p:nvSpPr>
        <p:spPr>
          <a:xfrm>
            <a:off x="8951976" y="1691640"/>
            <a:ext cx="2542032" cy="2331720"/>
          </a:xfrm>
          <a:prstGeom prst="roundRect">
            <a:avLst>
              <a:gd name="adj" fmla="val 3529"/>
            </a:avLst>
          </a:prstGeom>
          <a:solidFill>
            <a:srgbClr val="15265E"/>
          </a:solidFill>
          <a:ln w="12700">
            <a:solidFill>
              <a:srgbClr val="2E3F7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53144" y="1892808"/>
            <a:ext cx="457200" cy="457200"/>
          </a:xfrm>
          <a:prstGeom prst="ellipse">
            <a:avLst/>
          </a:prstGeom>
          <a:solidFill>
            <a:srgbClr val="138808"/>
          </a:solidFill>
          <a:ln/>
        </p:spPr>
      </p:sp>
      <p:sp>
        <p:nvSpPr>
          <p:cNvPr id="47" name="Text 45"/>
          <p:cNvSpPr/>
          <p:nvPr/>
        </p:nvSpPr>
        <p:spPr>
          <a:xfrm>
            <a:off x="9153144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153144" y="246888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Document Checklists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9153144" y="2926080"/>
            <a:ext cx="21396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6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RAG index to auto-generate a personalized required-document checklist.</a:t>
            </a:r>
            <a:endParaRPr lang="en-US" sz="1080" dirty="0"/>
          </a:p>
        </p:txBody>
      </p:sp>
      <p:sp>
        <p:nvSpPr>
          <p:cNvPr id="50" name="Shape 48"/>
          <p:cNvSpPr/>
          <p:nvPr/>
        </p:nvSpPr>
        <p:spPr>
          <a:xfrm>
            <a:off x="640080" y="4389120"/>
            <a:ext cx="10881360" cy="914"/>
          </a:xfrm>
          <a:prstGeom prst="line">
            <a:avLst/>
          </a:prstGeom>
          <a:noFill/>
          <a:ln w="12700">
            <a:solidFill>
              <a:srgbClr val="2E3F7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0080" y="4617720"/>
            <a:ext cx="548640" cy="548640"/>
          </a:xfrm>
          <a:prstGeom prst="ellipse">
            <a:avLst/>
          </a:prstGeom>
          <a:solidFill>
            <a:srgbClr val="FF993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2" name="Image 0" descr="/home/claude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4736592"/>
            <a:ext cx="310896" cy="310896"/>
          </a:xfrm>
          <a:prstGeom prst="rect">
            <a:avLst/>
          </a:prstGeom>
        </p:spPr>
      </p:pic>
      <p:sp>
        <p:nvSpPr>
          <p:cNvPr id="53" name="Text 50"/>
          <p:cNvSpPr/>
          <p:nvPr/>
        </p:nvSpPr>
        <p:spPr>
          <a:xfrm>
            <a:off x="1325880" y="4617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BharatAssist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1325880" y="49377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Aastha Mahajan  •  Bhanurekha Ganesan  •  Vidya Vaidyanathan</a:t>
            </a:r>
            <a:endParaRPr lang="en-US" sz="1150" dirty="0"/>
          </a:p>
        </p:txBody>
      </p:sp>
      <p:sp>
        <p:nvSpPr>
          <p:cNvPr id="55" name="Text 52"/>
          <p:cNvSpPr/>
          <p:nvPr/>
        </p:nvSpPr>
        <p:spPr>
          <a:xfrm>
            <a:off x="640080" y="544068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9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56" name="Text 53"/>
          <p:cNvSpPr/>
          <p:nvPr/>
        </p:nvSpPr>
        <p:spPr>
          <a:xfrm>
            <a:off x="640080" y="6035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6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2026-08-22T16:59:53Z</dcterms:created>
  <dcterms:modified xsi:type="dcterms:W3CDTF">2026-08-22T16:59:53Z</dcterms:modified>
</cp:coreProperties>
</file>