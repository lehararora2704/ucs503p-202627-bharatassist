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98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97280"/>
            <a:ext cx="4663440" cy="4663440"/>
          </a:xfrm>
          <a:prstGeom prst="ellipse">
            <a:avLst/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3429000"/>
            <a:ext cx="1276502" cy="914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88920" y="3653831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02139" y="3863340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64090" y="4043250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84180" y="4181299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4671" y="4268080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49840" y="4297680"/>
            <a:ext cx="9144" cy="127650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594626" y="4268080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077249" y="4181299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632967" y="4043250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292058" y="3863340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077753" y="3653831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004658" y="3429000"/>
            <a:ext cx="1276502" cy="914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7753" y="2873786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2058" y="2356409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32967" y="1912127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77249" y="1571218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94626" y="1356913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49840" y="1283818"/>
            <a:ext cx="9144" cy="1276502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374671" y="1356913"/>
            <a:ext cx="330383" cy="1233007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584180" y="1571218"/>
            <a:ext cx="638251" cy="110548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764090" y="1912127"/>
            <a:ext cx="902624" cy="902624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902139" y="2356409"/>
            <a:ext cx="1105484" cy="638251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988920" y="2873786"/>
            <a:ext cx="1233007" cy="330383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71862" y="3151022"/>
            <a:ext cx="555955" cy="55595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566928"/>
            <a:ext cx="502920" cy="109728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676656"/>
            <a:ext cx="50292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786384"/>
            <a:ext cx="502920" cy="109728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UCS503P  •  PROJECT PROGRESS PRESENTATION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4360" y="2606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BharatAssist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Government Services for Every Citizen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008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privacy-aware, RAG-grounded platform that helps citizens discover, understand,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navigate Indian government services with confidence.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to: </a:t>
            </a:r>
            <a:r>
              <a:rPr lang="en-US" sz="1200" b="1" dirty="0" err="1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Mr.Hardik</a:t>
            </a:r>
            <a:r>
              <a:rPr lang="en-US" sz="12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Team BharatAssist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6263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   •   Lehar Arora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citizens struggle with government services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2240280"/>
            <a:ext cx="1005840" cy="10058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map_sig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2441448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Information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rules, documents, and steps for schemes like PAN, ration card, or PM-KISAN are spread across dozens of disconnected government portals.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0700" y="2240280"/>
            <a:ext cx="1005840" cy="10058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icons/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868" y="2441448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 Process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applicants waste hours decoding dense notices and legal language just to figure out which documents and steps actually apply to them.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1874520"/>
            <a:ext cx="3429000" cy="397764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49740" y="2240280"/>
            <a:ext cx="1005840" cy="100584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/home/claude/icons/user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908" y="244144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474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Concerns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4114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personal documents with generic AI tools risks exposing sensitive identifiers such as Aadhaar, PAN, or phone numbers.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388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is built to close this gap — a single, trustworthy, privacy-first entry point.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BharatAssist is designed to deliver, in functional and non-functional terms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74520"/>
            <a:ext cx="594360" cy="59436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025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government services by category and state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eligibility, required documents, and application steps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verified official source links for every service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uploaded government documents in plain language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redact common PII before any AI processing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RAG-grounded AI answers with a confidence indicator</a:t>
            </a:r>
          </a:p>
        </p:txBody>
      </p:sp>
      <p:sp>
        <p:nvSpPr>
          <p:cNvPr id="9" name="Shape 6"/>
          <p:cNvSpPr/>
          <p:nvPr/>
        </p:nvSpPr>
        <p:spPr>
          <a:xfrm>
            <a:off x="6126480" y="160020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ECF6EC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2512" y="1874520"/>
            <a:ext cx="594360" cy="59436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shield_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0025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6060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response time must be measured and reported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redacted before it reaches any external AI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must be usable by first-time, non-technical users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data maintainable independently of application logic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unexpected inputs handled gracefully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covered by automated tests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deployed change validated through CI/CD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B1F5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pipeline from citizen query to grounded, verified answer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718304" y="132588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0B1F51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18304" y="1325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/ User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9904" y="1892808"/>
            <a:ext cx="9144" cy="25603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18304" y="2148840"/>
            <a:ext cx="2743200" cy="566928"/>
          </a:xfrm>
          <a:prstGeom prst="roundRect">
            <a:avLst>
              <a:gd name="adj" fmla="val 14516"/>
            </a:avLst>
          </a:prstGeom>
          <a:solidFill>
            <a:srgbClr val="FF9933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2148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 (Bootstrap · HTML/CSS/JS)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9904" y="2715768"/>
            <a:ext cx="9144" cy="25603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46704" y="2971800"/>
            <a:ext cx="5486400" cy="566928"/>
          </a:xfrm>
          <a:prstGeom prst="roundRect">
            <a:avLst>
              <a:gd name="adj" fmla="val 14516"/>
            </a:avLst>
          </a:prstGeom>
          <a:solidFill>
            <a:srgbClr val="138808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46704" y="29718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(Routing · Confidence Threshold Logic)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63140" y="3538728"/>
            <a:ext cx="7040880" cy="914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314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8358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304020" y="3538728"/>
            <a:ext cx="914" cy="621792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seeded government services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6052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 + Gemini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80960" y="4160520"/>
            <a:ext cx="3246120" cy="868680"/>
          </a:xfrm>
          <a:prstGeom prst="roundRect">
            <a:avLst>
              <a:gd name="adj" fmla="val 9474"/>
            </a:avLst>
          </a:prstGeom>
          <a:solidFill>
            <a:srgbClr val="4A5A8A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80960" y="421538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680960" y="4544568"/>
            <a:ext cx="32461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PII redaction (Aadhaar/PAN/phone)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52303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verified answer with source citations and a grounding confidence signal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Implemented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built and working in the current prototype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56232"/>
            <a:ext cx="777240" cy="7772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2082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Search &amp; Filters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20 government services by category and state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6552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856232"/>
            <a:ext cx="777240" cy="7772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file_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020824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Simplifier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45152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dense notices into plain-language explanations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21624" y="1856232"/>
            <a:ext cx="777240" cy="77724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216" y="2020824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36024" y="18288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RAG-Grounded AI Assistant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21624" y="27889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answers grounded in verified sources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325112"/>
            <a:ext cx="777240" cy="77724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3" descr="/home/claude/icons/user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489704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Aadhaar, PAN, phone &amp; email before any LLM call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6552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45152" y="4325112"/>
            <a:ext cx="777240" cy="7772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4" descr="/home/claude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4489704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59552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Seeded Services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45152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passport, ration card, PM-KISAN, Ayushman Bharat &amp; more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406908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21624" y="4325112"/>
            <a:ext cx="777240" cy="7772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1" name="Image 5" descr="/home/claude/icons/check_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4489704"/>
            <a:ext cx="448056" cy="448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36024" y="42976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Threshold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21624" y="52578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says "I don’t know" instead of guessing when unsure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3880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Quality Assurance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9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of testing, backed by continuous integration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0764" y="1737360"/>
            <a:ext cx="822960" cy="82296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/home/claude/icons/v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644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calculations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helper functions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83864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4548" y="1737360"/>
            <a:ext cx="822960" cy="82296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icons/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428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39896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search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request validation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submission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requests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327648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8332" y="1737360"/>
            <a:ext cx="822960" cy="822960"/>
          </a:xfrm>
          <a:prstGeom prst="ellipse">
            <a:avLst/>
          </a:prstGeom>
          <a:solidFill>
            <a:srgbClr val="0B1F5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/home/claude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1212" y="1920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4808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83680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retrieval + database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+ source metadata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+ redaction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171432" y="1463040"/>
            <a:ext cx="2624328" cy="3886200"/>
          </a:xfrm>
          <a:prstGeom prst="roundRect">
            <a:avLst>
              <a:gd name="adj" fmla="val 3136"/>
            </a:avLst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72116" y="1737360"/>
            <a:ext cx="822960" cy="822960"/>
          </a:xfrm>
          <a:prstGeom prst="ellipse">
            <a:avLst/>
          </a:prstGeom>
          <a:solidFill>
            <a:srgbClr val="7A1F1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3" descr="/home/claude/icons/shield_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4996" y="19202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8592" y="2697480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Tests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427464" y="3246120"/>
            <a:ext cx="21671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filenames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uploads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XSS-safe rendering</a:t>
            </a:r>
            <a:endParaRPr lang="en-US" sz="1080" dirty="0"/>
          </a:p>
          <a:p>
            <a:pPr marL="127000" indent="-1270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Missing/invalid API keys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672" y="5705856"/>
            <a:ext cx="530352" cy="530352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4" descr="/home/claude/icons/sync_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81558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6235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Integration: GitHub Actions runs lint + full test suite automatically on every push.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Progress So Far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success, and where the project stands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ECF6EC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48640" cy="548640"/>
          </a:xfrm>
          <a:prstGeom prst="ellipse">
            <a:avLst/>
          </a:prstGeom>
          <a:solidFill>
            <a:srgbClr val="138808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/home/claude/icons/chart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9293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5720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&amp; median Information Retrieval Time (IRT)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rate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relevance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Helpful-response rate (user feedback)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time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/ redaction rate</a:t>
            </a:r>
            <a:endParaRPr lang="en-US" sz="12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vs. traditional govt-site search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1554480"/>
            <a:ext cx="5513832" cy="4572000"/>
          </a:xfrm>
          <a:prstGeom prst="roundRect">
            <a:avLst>
              <a:gd name="adj" fmla="val 1600"/>
            </a:avLst>
          </a:prstGeom>
          <a:solidFill>
            <a:srgbClr val="FFF6EC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810512"/>
            <a:ext cx="548640" cy="5486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/home/claude/icons/check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192938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Week 1 Deliverables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55080" y="24505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4" name="Text 10"/>
          <p:cNvSpPr/>
          <p:nvPr/>
        </p:nvSpPr>
        <p:spPr>
          <a:xfrm>
            <a:off x="6720840" y="2350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architecture defined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29077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6" name="Text 12"/>
          <p:cNvSpPr/>
          <p:nvPr/>
        </p:nvSpPr>
        <p:spPr>
          <a:xfrm>
            <a:off x="6720840" y="2807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real government services seeded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55080" y="33649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18" name="Text 14"/>
          <p:cNvSpPr/>
          <p:nvPr/>
        </p:nvSpPr>
        <p:spPr>
          <a:xfrm>
            <a:off x="6720840" y="3264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+ PII redaction working end-to-end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55080" y="3822192"/>
            <a:ext cx="201168" cy="201168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0" name="Text 16"/>
          <p:cNvSpPr/>
          <p:nvPr/>
        </p:nvSpPr>
        <p:spPr>
          <a:xfrm>
            <a:off x="6720840" y="3721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grounding verified on seeded queries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720840" y="41788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tuned on real query data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55080" y="47365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4636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evaluation dashboard built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355080" y="51937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5093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 (Render)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55080" y="5742432"/>
            <a:ext cx="146304" cy="146304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28" name="Text 24"/>
          <p:cNvSpPr/>
          <p:nvPr/>
        </p:nvSpPr>
        <p:spPr>
          <a:xfrm>
            <a:off x="6565392" y="56509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863840" y="5742432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0" name="Text 26"/>
          <p:cNvSpPr/>
          <p:nvPr/>
        </p:nvSpPr>
        <p:spPr>
          <a:xfrm>
            <a:off x="8074152" y="5650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BharatAssist  |  UCS503P Project Progress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4040" y="137160"/>
            <a:ext cx="1828800" cy="1828800"/>
          </a:xfrm>
          <a:prstGeom prst="ellipse">
            <a:avLst/>
          </a:prstGeom>
          <a:ln w="19050">
            <a:solidFill>
              <a:srgbClr val="3A4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25912" y="1051560"/>
            <a:ext cx="493776" cy="9144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4072" y="1141492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9360" y="122529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24140" y="1297260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52176" y="1352480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68372" y="1387192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78440" y="1399032"/>
            <a:ext cx="9144" cy="493776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160709" y="1387192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9957816" y="1352480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783588" y="1297260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49898" y="122529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565857" y="1141492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537192" y="1051560"/>
            <a:ext cx="493776" cy="9144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65857" y="833829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9898" y="63093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83588" y="456708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57816" y="323018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60709" y="238977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10312"/>
            <a:ext cx="9144" cy="493776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468372" y="238977"/>
            <a:ext cx="127799" cy="476951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10552176" y="323018"/>
            <a:ext cx="246888" cy="427623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10624140" y="456708"/>
            <a:ext cx="349152" cy="349152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679360" y="630936"/>
            <a:ext cx="427623" cy="246888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0714072" y="833829"/>
            <a:ext cx="476951" cy="127799"/>
          </a:xfrm>
          <a:prstGeom prst="line">
            <a:avLst/>
          </a:prstGeom>
          <a:noFill/>
          <a:ln w="9525">
            <a:solidFill>
              <a:srgbClr val="3A4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67249" y="940369"/>
            <a:ext cx="222382" cy="222382"/>
          </a:xfrm>
          <a:prstGeom prst="ellipse">
            <a:avLst/>
          </a:prstGeom>
          <a:solidFill>
            <a:srgbClr val="3A4A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remaining project timeline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 handling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1248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chatbot ask a clarifying question back ("Is this for a new passport or a renewal?") instead of guessing, when the situation is ambiguous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3410712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189280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37" name="Text 35"/>
          <p:cNvSpPr/>
          <p:nvPr/>
        </p:nvSpPr>
        <p:spPr>
          <a:xfrm>
            <a:off x="36118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11880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LLM Routing</a:t>
            </a:r>
          </a:p>
        </p:txBody>
      </p:sp>
      <p:sp>
        <p:nvSpPr>
          <p:cNvPr id="39" name="Text 37"/>
          <p:cNvSpPr/>
          <p:nvPr/>
        </p:nvSpPr>
        <p:spPr>
          <a:xfrm>
            <a:off x="3611880" y="2495349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0000"/>
              </a:lnSpc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free text to a process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181344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1892808"/>
            <a:ext cx="457200" cy="457200"/>
          </a:xfrm>
          <a:prstGeom prst="ellipse">
            <a:avLst/>
          </a:prstGeom>
          <a:solidFill>
            <a:srgbClr val="FF9933"/>
          </a:solidFill>
          <a:ln/>
        </p:spPr>
      </p:sp>
      <p:sp>
        <p:nvSpPr>
          <p:cNvPr id="42" name="Text 40"/>
          <p:cNvSpPr/>
          <p:nvPr/>
        </p:nvSpPr>
        <p:spPr>
          <a:xfrm>
            <a:off x="6382512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2512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Multilingual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382512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assistant and simplifier prompts to respond in the citizen’s own language.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951976" y="1691640"/>
            <a:ext cx="2542032" cy="2331720"/>
          </a:xfrm>
          <a:prstGeom prst="roundRect">
            <a:avLst>
              <a:gd name="adj" fmla="val 3529"/>
            </a:avLst>
          </a:prstGeom>
          <a:solidFill>
            <a:srgbClr val="15265E"/>
          </a:solidFill>
          <a:ln w="12700">
            <a:solidFill>
              <a:srgbClr val="2E3F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53144" y="1892808"/>
            <a:ext cx="457200" cy="457200"/>
          </a:xfrm>
          <a:prstGeom prst="ellipse">
            <a:avLst/>
          </a:prstGeom>
          <a:solidFill>
            <a:srgbClr val="138808"/>
          </a:solidFill>
          <a:ln/>
        </p:spPr>
      </p:sp>
      <p:sp>
        <p:nvSpPr>
          <p:cNvPr id="47" name="Text 45"/>
          <p:cNvSpPr/>
          <p:nvPr/>
        </p:nvSpPr>
        <p:spPr>
          <a:xfrm>
            <a:off x="9153144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53144" y="2468880"/>
            <a:ext cx="2139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Document Checklists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9153144" y="292608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RAG index to auto-generate a personalized required-document checklist.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640080" y="4389120"/>
            <a:ext cx="10881360" cy="914"/>
          </a:xfrm>
          <a:prstGeom prst="line">
            <a:avLst/>
          </a:prstGeom>
          <a:noFill/>
          <a:ln w="12700">
            <a:solidFill>
              <a:srgbClr val="2E3F7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FF9933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2" name="Image 0" descr="/home/claude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36592"/>
            <a:ext cx="310896" cy="310896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32588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BharatAssist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325880" y="49377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Mahajan  •  Bhanurekha Ganesan  •  Vidya Vaidyanathan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40080" y="54406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9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6" name="Text 53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6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Office PowerPoint</Application>
  <PresentationFormat>Widescreen</PresentationFormat>
  <Paragraphs>139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Lehar Arora</cp:lastModifiedBy>
  <cp:revision>2</cp:revision>
  <dcterms:created xsi:type="dcterms:W3CDTF">2026-08-22T16:59:53Z</dcterms:created>
  <dcterms:modified xsi:type="dcterms:W3CDTF">2026-08-31T16:03:13Z</dcterms:modified>
</cp:coreProperties>
</file>