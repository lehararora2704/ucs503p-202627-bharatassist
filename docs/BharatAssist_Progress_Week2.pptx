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4251960"/>
          </a:xfrm>
          <a:prstGeom prst="roundRect">
            <a:avLst/>
          </a:prstGeom>
          <a:solidFill>
            <a:srgbClr val="182D49"/>
          </a:solidFill>
          <a:ln w="10160">
            <a:solidFill>
              <a:srgbClr val="18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109728" cy="10058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36192"/>
            <a:ext cx="109728" cy="10058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55064"/>
            <a:ext cx="109728" cy="10058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AFBFD"/>
                </a:solidFill>
                <a:latin typeface="Aptos"/>
              </a:defRPr>
            </a:pPr>
            <a:r>
              <a:t>BharatAssist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633472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DFE7F0"/>
                </a:solidFill>
                <a:latin typeface="Aptos"/>
              </a:defRPr>
            </a:pPr>
            <a:r>
              <a:t>Week 2 Development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310128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FCFDF"/>
                </a:solidFill>
                <a:latin typeface="Aptos"/>
              </a:defRPr>
            </a:pPr>
            <a:r>
              <a:t>Conversational follow-up • Clear conversation • Hindi language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4160520"/>
            <a:ext cx="1325880" cy="347472"/>
          </a:xfrm>
          <a:prstGeom prst="roundRect">
            <a:avLst/>
          </a:prstGeom>
          <a:solidFill>
            <a:srgbClr val="E87023"/>
          </a:solidFill>
          <a:ln w="10160">
            <a:solidFill>
              <a:srgbClr val="E8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178807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UCS503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4160520"/>
            <a:ext cx="1600200" cy="347472"/>
          </a:xfrm>
          <a:prstGeom prst="roundRect">
            <a:avLst/>
          </a:prstGeom>
          <a:solidFill>
            <a:srgbClr val="1C7D52"/>
          </a:solidFill>
          <a:ln w="10160">
            <a:solidFill>
              <a:srgbClr val="1C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42032" y="4178807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9392" y="4160520"/>
            <a:ext cx="1874519" cy="347472"/>
          </a:xfrm>
          <a:prstGeom prst="roundRect">
            <a:avLst/>
          </a:prstGeom>
          <a:solidFill>
            <a:srgbClr val="3D5B7D"/>
          </a:solidFill>
          <a:ln w="10160">
            <a:solidFill>
              <a:srgbClr val="3D5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9392" y="4178807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Citizen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920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AD6E2"/>
                </a:solidFill>
                <a:latin typeface="Aptos"/>
              </a:defRPr>
            </a:pPr>
            <a:r>
              <a:t>Development focus: making the assistant more context-aware, usable and reliable.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9C6D5"/>
                </a:solidFill>
                <a:latin typeface="Aptos"/>
              </a:defRPr>
            </a:pPr>
            <a:r>
              <a:t>BharatAssist  •  UCS503  •  Week 2 Progress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7"/>
                </a:solidFill>
                <a:latin typeface="Aptos"/>
              </a:defRPr>
            </a:pPr>
            <a:r>
              <a:t>Week 2 — Development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82"/>
                </a:solidFill>
                <a:latin typeface="Aptos"/>
              </a:defRPr>
            </a:pPr>
            <a:r>
              <a:t>The assistant was improved from a basic query interface toward a more conversational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57800" cy="1783080"/>
          </a:xfrm>
          <a:prstGeom prst="roundRect">
            <a:avLst/>
          </a:prstGeom>
          <a:solidFill>
            <a:srgbClr val="E8F0F9"/>
          </a:solidFill>
          <a:ln w="10160"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3230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F37"/>
                </a:solidFill>
                <a:latin typeface="Aptos"/>
              </a:defRPr>
            </a:pPr>
            <a:r>
              <a:t>Follow-up questioning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16352"/>
            <a:ext cx="4617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Maintain the active government-service context across related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57800" cy="1783080"/>
          </a:xfrm>
          <a:prstGeom prst="roundRect">
            <a:avLst/>
          </a:prstGeom>
          <a:solidFill>
            <a:srgbClr val="FCF1E8"/>
          </a:solidFill>
          <a:ln w="10160">
            <a:solidFill>
              <a:srgbClr val="FC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202996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70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43230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F37"/>
                </a:solidFill>
                <a:latin typeface="Aptos"/>
              </a:defRPr>
            </a:pPr>
            <a:r>
              <a:t>Clear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816352"/>
            <a:ext cx="4617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Give users a direct way to reset the current conversation and service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5257800" cy="178308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E9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27024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7D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7258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F37"/>
                </a:solidFill>
                <a:latin typeface="Aptos"/>
              </a:defRPr>
            </a:pPr>
            <a:r>
              <a:t>Hindi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56632"/>
            <a:ext cx="4617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Hindi language capability was added to the chatbot as part of the team’s multilingual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069080"/>
            <a:ext cx="5257800" cy="1783080"/>
          </a:xfrm>
          <a:prstGeom prst="roundRect">
            <a:avLst/>
          </a:prstGeom>
          <a:solidFill>
            <a:srgbClr val="EFF3F7"/>
          </a:solidFill>
          <a:ln w="1016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4270248"/>
            <a:ext cx="502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82D4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67258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F37"/>
                </a:solidFill>
                <a:latin typeface="Aptos"/>
              </a:defRPr>
            </a:pPr>
            <a:r>
              <a:t>Service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056632"/>
            <a:ext cx="46177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Improve service selection and prevent old context from overriding an explicitly named service.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482"/>
                </a:solidFill>
                <a:latin typeface="Aptos"/>
              </a:defRPr>
            </a:pPr>
            <a:r>
              <a:t>BharatAssist  •  UCS503  •  Week 2 Progress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7"/>
                </a:solidFill>
                <a:latin typeface="Aptos"/>
              </a:defRPr>
            </a:pPr>
            <a:r>
              <a:t>Follow-Up Question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82"/>
                </a:solidFill>
                <a:latin typeface="Aptos"/>
              </a:defRPr>
            </a:pPr>
            <a:r>
              <a:t>Users can continue a conversation without repeating the service name in every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423160" cy="2240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075688"/>
            <a:ext cx="475488" cy="475488"/>
          </a:xfrm>
          <a:prstGeom prst="ellipse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9397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AFB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2491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7"/>
                </a:solidFill>
                <a:latin typeface="Aptos"/>
              </a:defRPr>
            </a:pPr>
            <a:r>
              <a:t>Service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18688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87482"/>
                </a:solidFill>
                <a:latin typeface="Aptos"/>
              </a:defRPr>
            </a:pPr>
            <a:r>
              <a:t>PM-KISAN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67004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E870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74519"/>
            <a:ext cx="2423160" cy="2240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75887" y="2075688"/>
            <a:ext cx="475488" cy="475488"/>
          </a:xfrm>
          <a:prstGeom prst="ellipse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209397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AFB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72491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7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218688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87482"/>
                </a:solidFill>
                <a:latin typeface="Aptos"/>
              </a:defRPr>
            </a:pPr>
            <a:r>
              <a:t>“What documents are required?”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267004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E870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74519"/>
            <a:ext cx="2423160" cy="2240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64807" y="2075688"/>
            <a:ext cx="475488" cy="475488"/>
          </a:xfrm>
          <a:prstGeom prst="ellipse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209397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AFB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272491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7"/>
                </a:solidFill>
                <a:latin typeface="Aptos"/>
              </a:defRPr>
            </a:pPr>
            <a:r>
              <a:t>Context 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218688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87482"/>
                </a:solidFill>
                <a:latin typeface="Aptos"/>
              </a:defRPr>
            </a:pPr>
            <a:r>
              <a:t>Previous service retained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67004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E8702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1874519"/>
            <a:ext cx="2423160" cy="22402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53728" y="2075688"/>
            <a:ext cx="475488" cy="475488"/>
          </a:xfrm>
          <a:prstGeom prst="ellipse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53728" y="2093976"/>
            <a:ext cx="4754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AFB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72491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F37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218688"/>
            <a:ext cx="1965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87482"/>
                </a:solidFill>
                <a:latin typeface="Aptos"/>
              </a:defRPr>
            </a:pPr>
            <a:r>
              <a:t>Relevant answer returned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4617720"/>
            <a:ext cx="10332720" cy="868680"/>
          </a:xfrm>
          <a:prstGeom prst="roundRect">
            <a:avLst/>
          </a:prstGeom>
          <a:solidFill>
            <a:srgbClr val="0F1F37"/>
          </a:solidFill>
          <a:ln w="10160">
            <a:solidFill>
              <a:srgbClr val="0F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78231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AFBFD"/>
                </a:solidFill>
                <a:latin typeface="Aptos"/>
              </a:defRPr>
            </a:pPr>
            <a:r>
              <a:t>Key improvement: explicit service mentions in a new question take priority over the previous context.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482"/>
                </a:solidFill>
                <a:latin typeface="Aptos"/>
              </a:defRPr>
            </a:pPr>
            <a:r>
              <a:t>BharatAssist  •  UCS503  •  Week 2 Progress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7"/>
                </a:solidFill>
                <a:latin typeface="Aptos"/>
              </a:defRPr>
            </a:pPr>
            <a:r>
              <a:t>Clear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82"/>
                </a:solidFill>
                <a:latin typeface="Aptos"/>
              </a:defRPr>
            </a:pPr>
            <a:r>
              <a:t>A dedicated control was added to reset the current assistant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846320" cy="4069080"/>
          </a:xfrm>
          <a:prstGeom prst="roundRect">
            <a:avLst/>
          </a:prstGeom>
          <a:solidFill>
            <a:srgbClr val="0F1F37"/>
          </a:solidFill>
          <a:ln w="10160">
            <a:solidFill>
              <a:srgbClr val="0F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AFBFD"/>
                </a:solidFill>
                <a:latin typeface="Aptos"/>
              </a:defRPr>
            </a:pPr>
            <a:r>
              <a:t>What was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069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EE7F0"/>
                </a:solidFill>
                <a:latin typeface="Aptos"/>
              </a:defRPr>
            </a:pPr>
            <a:r>
              <a:t>• Clear button in the assistant interface</a:t>
            </a:r>
          </a:p>
          <a:p>
            <a:pPr>
              <a:spcAft>
                <a:spcPts val="1000"/>
              </a:spcAft>
              <a:defRPr sz="1300">
                <a:solidFill>
                  <a:srgbClr val="DEE7F0"/>
                </a:solidFill>
                <a:latin typeface="Aptos"/>
              </a:defRPr>
            </a:pPr>
            <a:r>
              <a:t>• Service context is reset</a:t>
            </a:r>
          </a:p>
          <a:p>
            <a:pPr>
              <a:spcAft>
                <a:spcPts val="1000"/>
              </a:spcAft>
              <a:defRPr sz="1300">
                <a:solidFill>
                  <a:srgbClr val="DEE7F0"/>
                </a:solidFill>
                <a:latin typeface="Aptos"/>
              </a:defRPr>
            </a:pPr>
            <a:r>
              <a:t>• Conversation state can be restarted cleanly</a:t>
            </a:r>
          </a:p>
          <a:p>
            <a:pPr>
              <a:spcAft>
                <a:spcPts val="1000"/>
              </a:spcAft>
              <a:defRPr sz="1300">
                <a:solidFill>
                  <a:srgbClr val="DEE7F0"/>
                </a:solidFill>
                <a:latin typeface="Aptos"/>
              </a:defRPr>
            </a:pPr>
            <a:r>
              <a:t>• Backend endpoint added for clearing the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257800"/>
            <a:ext cx="2423160" cy="347472"/>
          </a:xfrm>
          <a:prstGeom prst="roundRect">
            <a:avLst/>
          </a:prstGeom>
          <a:solidFill>
            <a:srgbClr val="E87023"/>
          </a:solidFill>
          <a:ln w="10160">
            <a:solidFill>
              <a:srgbClr val="E8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276088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POST /api/assistant/clear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783080"/>
            <a:ext cx="5440680" cy="4069080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F37"/>
                </a:solidFill>
                <a:latin typeface="Aptos"/>
              </a:defRPr>
            </a:pPr>
            <a:r>
              <a:t>User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788920"/>
            <a:ext cx="4526280" cy="621792"/>
          </a:xfrm>
          <a:prstGeom prst="roundRect">
            <a:avLst/>
          </a:prstGeom>
          <a:solidFill>
            <a:srgbClr val="EFF3F7"/>
          </a:solidFill>
          <a:ln w="1016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898648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7"/>
                </a:solidFill>
                <a:latin typeface="Aptos"/>
              </a:defRPr>
            </a:pPr>
            <a:r>
              <a:t>Current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898648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6303D"/>
                </a:solidFill>
                <a:latin typeface="Aptos"/>
              </a:defRPr>
            </a:pPr>
            <a:r>
              <a:t>Service context is 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30168"/>
            <a:ext cx="4526280" cy="621792"/>
          </a:xfrm>
          <a:prstGeom prst="roundRect">
            <a:avLst/>
          </a:prstGeom>
          <a:solidFill>
            <a:srgbClr val="EFF3F7"/>
          </a:solidFill>
          <a:ln w="1016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7023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739896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6303D"/>
                </a:solidFill>
                <a:latin typeface="Aptos"/>
              </a:defRPr>
            </a:pPr>
            <a:r>
              <a:t>User resets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471416"/>
            <a:ext cx="4526280" cy="621792"/>
          </a:xfrm>
          <a:prstGeom prst="roundRect">
            <a:avLst/>
          </a:prstGeom>
          <a:solidFill>
            <a:srgbClr val="EFF3F7"/>
          </a:solidFill>
          <a:ln w="1016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581144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F1F37"/>
                </a:solidFill>
                <a:latin typeface="Aptos"/>
              </a:defRPr>
            </a:pPr>
            <a:r>
              <a:t>Fresh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581144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6303D"/>
                </a:solidFill>
                <a:latin typeface="Aptos"/>
              </a:defRPr>
            </a:pPr>
            <a:r>
              <a:t>New question begins without old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482"/>
                </a:solidFill>
                <a:latin typeface="Aptos"/>
              </a:defRPr>
            </a:pPr>
            <a:r>
              <a:t>BharatAssist  •  UCS503  •  Week 2 Progress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7"/>
                </a:solidFill>
                <a:latin typeface="Aptos"/>
              </a:defRPr>
            </a:pPr>
            <a:r>
              <a:t>Hindi Language Addition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82"/>
                </a:solidFill>
                <a:latin typeface="Aptos"/>
              </a:defRPr>
            </a:pPr>
            <a:r>
              <a:t>Multilingual capability was extended in the chatbot with Hindi support as a team contribution.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416052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E9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1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F37"/>
                </a:solidFill>
                <a:latin typeface="Aptos"/>
              </a:defRPr>
            </a:pPr>
            <a:r>
              <a:t>English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97480"/>
            <a:ext cx="4480560" cy="84124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852928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What documents are required?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730752"/>
            <a:ext cx="4480560" cy="1024128"/>
          </a:xfrm>
          <a:prstGeom prst="roundRect">
            <a:avLst/>
          </a:prstGeom>
          <a:solidFill>
            <a:srgbClr val="0F1F37"/>
          </a:solidFill>
          <a:ln w="10160">
            <a:solidFill>
              <a:srgbClr val="0F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4023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AFBFD"/>
                </a:solidFill>
                <a:latin typeface="Aptos"/>
              </a:defRPr>
            </a:pPr>
            <a:r>
              <a:t>The assistant provides the required documents and service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148072"/>
            <a:ext cx="1234440" cy="347472"/>
          </a:xfrm>
          <a:prstGeom prst="roundRect">
            <a:avLst/>
          </a:prstGeom>
          <a:solidFill>
            <a:srgbClr val="1C7D52"/>
          </a:solidFill>
          <a:ln w="10160">
            <a:solidFill>
              <a:srgbClr val="1C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166359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English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212080" cy="4160520"/>
          </a:xfrm>
          <a:prstGeom prst="roundRect">
            <a:avLst/>
          </a:prstGeom>
          <a:solidFill>
            <a:srgbClr val="FCF1E8"/>
          </a:solidFill>
          <a:ln w="10160">
            <a:solidFill>
              <a:srgbClr val="FC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084831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F37"/>
                </a:solidFill>
                <a:latin typeface="Aptos"/>
              </a:defRPr>
            </a:pPr>
            <a:r>
              <a:t>Hindi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97480"/>
            <a:ext cx="4480560" cy="84124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83464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कौन-कौन से दस्तावेज़ आवश्यक हैं?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730752"/>
            <a:ext cx="4480560" cy="1024128"/>
          </a:xfrm>
          <a:prstGeom prst="roundRect">
            <a:avLst/>
          </a:prstGeom>
          <a:solidFill>
            <a:srgbClr val="0F1F37"/>
          </a:solidFill>
          <a:ln w="10160">
            <a:solidFill>
              <a:srgbClr val="0F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867912"/>
            <a:ext cx="4023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AFBFD"/>
                </a:solidFill>
                <a:latin typeface="Aptos"/>
              </a:defRPr>
            </a:pPr>
            <a:r>
              <a:t>सहायक आवश्यक दस्तावेज़ और सेवा से संबंधित जानकारी प्रदान करता है।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148072"/>
            <a:ext cx="1051560" cy="347472"/>
          </a:xfrm>
          <a:prstGeom prst="roundRect">
            <a:avLst/>
          </a:prstGeom>
          <a:solidFill>
            <a:srgbClr val="E87023"/>
          </a:solidFill>
          <a:ln w="10160">
            <a:solidFill>
              <a:srgbClr val="E8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5166359"/>
            <a:ext cx="1051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हिन्दी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482"/>
                </a:solidFill>
                <a:latin typeface="Aptos"/>
              </a:defRPr>
            </a:pPr>
            <a:r>
              <a:t>BharatAssist  •  UCS503  •  Week 2 Progress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7"/>
                </a:solidFill>
                <a:latin typeface="Aptos"/>
              </a:defRPr>
            </a:pPr>
            <a:r>
              <a:t>Service Matching &amp; Context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82"/>
                </a:solidFill>
                <a:latin typeface="Aptos"/>
              </a:defRPr>
            </a:pPr>
            <a:r>
              <a:t>Testing exposed a context-priority issue, which was refined to make service switching more reliable.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3611880"/>
          </a:xfrm>
          <a:prstGeom prst="roundRect">
            <a:avLst/>
          </a:prstGeom>
          <a:solidFill>
            <a:srgbClr val="FAF2F2"/>
          </a:solidFill>
          <a:ln w="10160">
            <a:solidFill>
              <a:srgbClr val="EF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3737"/>
                </a:solidFill>
                <a:latin typeface="Aptos"/>
              </a:defRPr>
            </a:pPr>
            <a:r>
              <a:t>Earlier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Previous service context could dominate</a:t>
            </a:r>
          </a:p>
          <a:p>
            <a:pPr>
              <a:spcAft>
                <a:spcPts val="11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Explicitly named new service could be missed</a:t>
            </a:r>
          </a:p>
          <a:p>
            <a:pPr>
              <a:spcAft>
                <a:spcPts val="11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Risk of returning information for the wrong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3611880"/>
          </a:xfrm>
          <a:prstGeom prst="roundRect">
            <a:avLst/>
          </a:prstGeom>
          <a:solidFill>
            <a:srgbClr val="E9F6EF"/>
          </a:solidFill>
          <a:ln w="10160">
            <a:solidFill>
              <a:srgbClr val="E9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C7D52"/>
                </a:solidFill>
                <a:latin typeface="Aptos"/>
              </a:defRPr>
            </a:pPr>
            <a:r>
              <a:t>Improved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389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Explicit service mention gets priority</a:t>
            </a:r>
          </a:p>
          <a:p>
            <a:pPr>
              <a:spcAft>
                <a:spcPts val="11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Previous context is used for genuine follow-ups</a:t>
            </a:r>
          </a:p>
          <a:p>
            <a:pPr>
              <a:spcAft>
                <a:spcPts val="1100"/>
              </a:spcAft>
              <a:defRPr sz="1300">
                <a:solidFill>
                  <a:srgbClr val="26303D"/>
                </a:solidFill>
                <a:latin typeface="Aptos"/>
              </a:defRPr>
            </a:pPr>
            <a:r>
              <a:t>• Service switching is more predictable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87482"/>
                </a:solidFill>
                <a:latin typeface="Aptos"/>
              </a:defRPr>
            </a:pPr>
            <a:r>
              <a:t>Example: “Tell me about Driving Licence” → later “What are the fees?” → then “Tell me about Income Certificate”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482"/>
                </a:solidFill>
                <a:latin typeface="Aptos"/>
              </a:defRPr>
            </a:pPr>
            <a:r>
              <a:t>BharatAssist  •  UCS503  •  Week 2 Progress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54864"/>
          </a:xfrm>
          <a:prstGeom prst="rect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18872" cy="54864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7744" y="0"/>
            <a:ext cx="118872" cy="54864"/>
          </a:xfrm>
          <a:prstGeom prst="rect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7"/>
                </a:solidFill>
                <a:latin typeface="Aptos"/>
              </a:defRPr>
            </a:pPr>
            <a:r>
              <a:t>Current Status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82"/>
                </a:solidFill>
                <a:latin typeface="Aptos"/>
              </a:defRPr>
            </a:pPr>
            <a:r>
              <a:t>Week 2 changes were tested through the local Flask application and assistant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66360" cy="102412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093976"/>
            <a:ext cx="256032" cy="256032"/>
          </a:xfrm>
          <a:prstGeom prst="ellipse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9888" y="1956816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7"/>
                </a:solidFill>
                <a:latin typeface="Aptos"/>
              </a:defRPr>
            </a:pPr>
            <a:r>
              <a:t>Assistant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2860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87482"/>
                </a:solidFill>
                <a:latin typeface="Aptos"/>
              </a:defRPr>
            </a:pPr>
            <a:r>
              <a:t>Follow-up questions tested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166360" cy="102412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46520" y="2093976"/>
            <a:ext cx="256032" cy="256032"/>
          </a:xfrm>
          <a:prstGeom prst="ellipse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76288" y="1956816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7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2860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87482"/>
                </a:solidFill>
                <a:latin typeface="Aptos"/>
              </a:defRPr>
            </a:pPr>
            <a:r>
              <a:t>Active service tracking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5166360" cy="102412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3419856"/>
            <a:ext cx="256032" cy="256032"/>
          </a:xfrm>
          <a:prstGeom prst="ellipse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9888" y="3282696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7"/>
                </a:solidFill>
                <a:latin typeface="Aptos"/>
              </a:defRPr>
            </a:pPr>
            <a:r>
              <a:t>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61188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87482"/>
                </a:solidFill>
                <a:latin typeface="Aptos"/>
              </a:defRPr>
            </a:pPr>
            <a:r>
              <a:t>Conversation reset endpoint tested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08960"/>
            <a:ext cx="5166360" cy="102412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46520" y="3419856"/>
            <a:ext cx="256032" cy="256032"/>
          </a:xfrm>
          <a:prstGeom prst="ellipse">
            <a:avLst/>
          </a:prstGeom>
          <a:solidFill>
            <a:srgbClr val="1C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76288" y="3282696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7"/>
                </a:solidFill>
                <a:latin typeface="Aptos"/>
              </a:defRPr>
            </a:pPr>
            <a:r>
              <a:t>Service switching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61188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87482"/>
                </a:solidFill>
                <a:latin typeface="Aptos"/>
              </a:defRPr>
            </a:pPr>
            <a:r>
              <a:t>Explicit new service takes priority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34840"/>
            <a:ext cx="5166360" cy="102412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0120" y="4745736"/>
            <a:ext cx="256032" cy="256032"/>
          </a:xfrm>
          <a:prstGeom prst="ellipse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89888" y="4608576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7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937759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87482"/>
                </a:solidFill>
                <a:latin typeface="Aptos"/>
              </a:defRPr>
            </a:pPr>
            <a:r>
              <a:t>Context indicator and Clear control added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434840"/>
            <a:ext cx="5166360" cy="1024128"/>
          </a:xfrm>
          <a:prstGeom prst="roundRect">
            <a:avLst/>
          </a:prstGeom>
          <a:solidFill>
            <a:srgbClr val="FAFBFD"/>
          </a:solidFill>
          <a:ln w="1016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46520" y="4745736"/>
            <a:ext cx="256032" cy="256032"/>
          </a:xfrm>
          <a:prstGeom prst="ellipse">
            <a:avLst/>
          </a:prstGeom>
          <a:solidFill>
            <a:srgbClr val="E8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76288" y="4608576"/>
            <a:ext cx="4160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F1F37"/>
                </a:solidFill>
                <a:latin typeface="Aptos"/>
              </a:defRPr>
            </a:pPr>
            <a:r>
              <a:t>Hindi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937759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87482"/>
                </a:solidFill>
                <a:latin typeface="Aptos"/>
              </a:defRPr>
            </a:pPr>
            <a:r>
              <a:t>Language support added by teammate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806440"/>
            <a:ext cx="10332720" cy="411480"/>
          </a:xfrm>
          <a:prstGeom prst="roundRect">
            <a:avLst/>
          </a:prstGeom>
          <a:solidFill>
            <a:srgbClr val="0F1F37"/>
          </a:solidFill>
          <a:ln w="10160">
            <a:solidFill>
              <a:srgbClr val="0F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870448"/>
            <a:ext cx="10149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FAFBFD"/>
                </a:solidFill>
                <a:latin typeface="Aptos"/>
              </a:defRPr>
            </a:pPr>
            <a:r>
              <a:t>Local development environment: Flask application • http://127.0.0.1:5000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87482"/>
                </a:solidFill>
                <a:latin typeface="Aptos"/>
              </a:defRPr>
            </a:pPr>
            <a:r>
              <a:t>BharatAssist  •  UCS503  •  Week 2 Progress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29543D-90B2-B7A7-56ED-DC2878526A39}"/>
              </a:ext>
            </a:extLst>
          </p:cNvPr>
          <p:cNvSpPr/>
          <p:nvPr/>
        </p:nvSpPr>
        <p:spPr>
          <a:xfrm>
            <a:off x="482885" y="1469204"/>
            <a:ext cx="3339102" cy="163359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AF1BBA-7249-627C-BBAE-33A727ADA288}"/>
              </a:ext>
            </a:extLst>
          </p:cNvPr>
          <p:cNvSpPr/>
          <p:nvPr/>
        </p:nvSpPr>
        <p:spPr>
          <a:xfrm>
            <a:off x="5821680" y="1461267"/>
            <a:ext cx="3339102" cy="16335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34E485-E9B8-F812-40CE-2156154A9646}"/>
              </a:ext>
            </a:extLst>
          </p:cNvPr>
          <p:cNvSpPr/>
          <p:nvPr/>
        </p:nvSpPr>
        <p:spPr>
          <a:xfrm>
            <a:off x="5910381" y="3610107"/>
            <a:ext cx="3339102" cy="163359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9995F3-E7DA-CC04-E222-3495C62E8215}"/>
              </a:ext>
            </a:extLst>
          </p:cNvPr>
          <p:cNvSpPr/>
          <p:nvPr/>
        </p:nvSpPr>
        <p:spPr>
          <a:xfrm>
            <a:off x="482885" y="3646281"/>
            <a:ext cx="3339102" cy="16335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594360" y="411480"/>
            <a:ext cx="36132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>
                <a:solidFill>
                  <a:schemeClr val="bg1"/>
                </a:solidFill>
              </a:rPr>
              <a:t>What’s Next —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65076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chemeClr val="bg1"/>
                </a:solidFill>
              </a:rPr>
              <a:t>Enhancing BharatAssist into a more complete, accessible and user-friendly AI assistant.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507492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rPr>
                <a:solidFill>
                  <a:schemeClr val="bg1"/>
                </a:solidFill>
              </a:rPr>
              <a:t>01  Multilingual Support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Add multiple Indian languages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Enable seamless language switching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Improve multilingual response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00200"/>
            <a:ext cx="507492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rPr>
                <a:solidFill>
                  <a:schemeClr val="bg1"/>
                </a:solidFill>
              </a:rPr>
              <a:t>02  Voice Assistance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Add voice input for user queries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Provide voice-based responses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Improve accessibility and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55205"/>
            <a:ext cx="507492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rPr>
                <a:solidFill>
                  <a:schemeClr val="bg1"/>
                </a:solidFill>
              </a:rPr>
              <a:t>03  Chatbot Improvements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Improve conversational flow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Refine follow-up handling</a:t>
            </a:r>
          </a:p>
          <a:p>
            <a:pPr>
              <a:spcBef>
                <a:spcPts val="300"/>
              </a:spcBef>
              <a:defRPr sz="1200"/>
            </a:pPr>
            <a:r>
              <a:rPr>
                <a:solidFill>
                  <a:schemeClr val="bg1"/>
                </a:solidFill>
              </a:rPr>
              <a:t>• Strengthen context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771695"/>
            <a:ext cx="507492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rPr dirty="0">
                <a:solidFill>
                  <a:schemeClr val="bg1"/>
                </a:solidFill>
              </a:rPr>
              <a:t>04  User Authentication</a:t>
            </a:r>
          </a:p>
          <a:p>
            <a:pPr>
              <a:spcBef>
                <a:spcPts val="300"/>
              </a:spcBef>
              <a:defRPr sz="1200"/>
            </a:pPr>
            <a:r>
              <a:rPr dirty="0">
                <a:solidFill>
                  <a:schemeClr val="bg1"/>
                </a:solidFill>
              </a:rPr>
              <a:t>• Add login / signup interface</a:t>
            </a:r>
          </a:p>
          <a:p>
            <a:pPr>
              <a:spcBef>
                <a:spcPts val="300"/>
              </a:spcBef>
              <a:defRPr sz="1200"/>
            </a:pPr>
            <a:r>
              <a:rPr dirty="0">
                <a:solidFill>
                  <a:schemeClr val="bg1"/>
                </a:solidFill>
              </a:rPr>
              <a:t>• Implement phone number authentication</a:t>
            </a:r>
          </a:p>
          <a:p>
            <a:pPr>
              <a:spcBef>
                <a:spcPts val="300"/>
              </a:spcBef>
              <a:defRPr sz="1200"/>
            </a:pPr>
            <a:r>
              <a:rPr dirty="0">
                <a:solidFill>
                  <a:schemeClr val="bg1"/>
                </a:solidFill>
              </a:rPr>
              <a:t>• Maintain personalized user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64229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rPr>
                <a:solidFill>
                  <a:schemeClr val="bg1"/>
                </a:solidFill>
              </a:rPr>
              <a:t>GOAL  |  A multilingual, voice-enabled, context-aware and personalized AI assistant.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621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Lehar Arora</cp:lastModifiedBy>
  <cp:revision>2</cp:revision>
  <dcterms:created xsi:type="dcterms:W3CDTF">2013-01-27T09:14:16Z</dcterms:created>
  <dcterms:modified xsi:type="dcterms:W3CDTF">2026-09-11T08:23:07Z</dcterms:modified>
  <cp:category/>
</cp:coreProperties>
</file>