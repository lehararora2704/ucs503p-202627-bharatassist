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443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2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57200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713232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969264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1225296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6" name="Shape 4"/>
          <p:cNvSpPr/>
          <p:nvPr/>
        </p:nvSpPr>
        <p:spPr>
          <a:xfrm>
            <a:off x="9308592" y="457200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7" name="Shape 5"/>
          <p:cNvSpPr/>
          <p:nvPr/>
        </p:nvSpPr>
        <p:spPr>
          <a:xfrm>
            <a:off x="9308592" y="713232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8" name="Shape 6"/>
          <p:cNvSpPr/>
          <p:nvPr/>
        </p:nvSpPr>
        <p:spPr>
          <a:xfrm>
            <a:off x="9308592" y="969264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9" name="Shape 7"/>
          <p:cNvSpPr/>
          <p:nvPr/>
        </p:nvSpPr>
        <p:spPr>
          <a:xfrm>
            <a:off x="9308592" y="1225296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10" name="Shape 8"/>
          <p:cNvSpPr/>
          <p:nvPr/>
        </p:nvSpPr>
        <p:spPr>
          <a:xfrm>
            <a:off x="9564624" y="457200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11" name="Shape 9"/>
          <p:cNvSpPr/>
          <p:nvPr/>
        </p:nvSpPr>
        <p:spPr>
          <a:xfrm>
            <a:off x="9564624" y="713232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12" name="Shape 10"/>
          <p:cNvSpPr/>
          <p:nvPr/>
        </p:nvSpPr>
        <p:spPr>
          <a:xfrm>
            <a:off x="9564624" y="969264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13" name="Shape 11"/>
          <p:cNvSpPr/>
          <p:nvPr/>
        </p:nvSpPr>
        <p:spPr>
          <a:xfrm>
            <a:off x="9564624" y="1225296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14" name="Shape 12"/>
          <p:cNvSpPr/>
          <p:nvPr/>
        </p:nvSpPr>
        <p:spPr>
          <a:xfrm>
            <a:off x="9820656" y="457200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15" name="Shape 13"/>
          <p:cNvSpPr/>
          <p:nvPr/>
        </p:nvSpPr>
        <p:spPr>
          <a:xfrm>
            <a:off x="9820656" y="713232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16" name="Shape 14"/>
          <p:cNvSpPr/>
          <p:nvPr/>
        </p:nvSpPr>
        <p:spPr>
          <a:xfrm>
            <a:off x="9820656" y="969264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17" name="Shape 15"/>
          <p:cNvSpPr/>
          <p:nvPr/>
        </p:nvSpPr>
        <p:spPr>
          <a:xfrm>
            <a:off x="9820656" y="1225296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76688" y="457200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76688" y="713232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76688" y="969264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76688" y="1225296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32720" y="457200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32720" y="713232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32720" y="969264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32720" y="1225296"/>
            <a:ext cx="41148" cy="41148"/>
          </a:xfrm>
          <a:prstGeom prst="ellipse">
            <a:avLst/>
          </a:prstGeom>
          <a:solidFill>
            <a:srgbClr val="BFDFDD"/>
          </a:solidFill>
          <a:ln/>
        </p:spPr>
      </p:sp>
      <p:sp>
        <p:nvSpPr>
          <p:cNvPr id="26" name="Shape 24"/>
          <p:cNvSpPr/>
          <p:nvPr/>
        </p:nvSpPr>
        <p:spPr>
          <a:xfrm>
            <a:off x="9692640" y="3931920"/>
            <a:ext cx="3291840" cy="3291840"/>
          </a:xfrm>
          <a:prstGeom prst="ellipse">
            <a:avLst/>
          </a:prstGeom>
          <a:solidFill>
            <a:srgbClr val="04303A"/>
          </a:solidFill>
          <a:ln/>
        </p:spPr>
      </p:sp>
      <p:sp>
        <p:nvSpPr>
          <p:cNvPr id="27" name="Shape 25"/>
          <p:cNvSpPr/>
          <p:nvPr/>
        </p:nvSpPr>
        <p:spPr>
          <a:xfrm>
            <a:off x="-1097280" y="-1280160"/>
            <a:ext cx="2926080" cy="2926080"/>
          </a:xfrm>
          <a:prstGeom prst="ellipse">
            <a:avLst/>
          </a:prstGeom>
          <a:solidFill>
            <a:srgbClr val="04303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731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UCS503P  •  PROJECT PROPOSAL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" y="12344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BharatAssist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640080" y="23317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government for every citizen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0080" y="288036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FD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Bureaucracy Navigator and Legal Document Simplifier that turns fragmented government information into a guided, citizen-friendly journey.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8368" y="416052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31596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Lehar Arora</a:t>
            </a:r>
            <a:r>
              <a:rPr lang="en-US" sz="1100" dirty="0">
                <a:solidFill>
                  <a:srgbClr val="BFD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1024030419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Aastha Mahajan</a:t>
            </a:r>
            <a:r>
              <a:rPr lang="en-US" sz="1100" dirty="0">
                <a:solidFill>
                  <a:srgbClr val="BFD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1024030424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309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7F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INSTITUTE OF ENGINEERING AND TECHNOLOGY</a:t>
            </a:r>
            <a:endParaRPr lang="en-US" sz="1000" dirty="0"/>
          </a:p>
        </p:txBody>
      </p:sp>
      <p:pic>
        <p:nvPicPr>
          <p:cNvPr id="35" name="Image 0" descr="/home/claude/work/assets/illustrations/hero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272" y="1828800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is accessible — but not always understandable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isn't only information. It's navigation, language, confidence and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47088" cy="233172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127000" dist="38100" dir="5400000" algn="bl" rotWithShape="0">
              <a:srgbClr val="0B42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139696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assets/icons/sitem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23042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8803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information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76656" y="338328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move across portals, notices, FAQs and department pages to piece together one procedure.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60320" y="1965960"/>
            <a:ext cx="1847088" cy="233172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127000" dist="38100" dir="5400000" algn="bl" rotWithShape="0">
              <a:srgbClr val="0B4249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2139696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work/assets/icons/langua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3042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70048" y="28803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language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688336" y="338328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government documents are difficult to interpret without prior administrative knowledge.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0" y="1965960"/>
            <a:ext cx="1847088" cy="233172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127000" dist="38100" dir="5400000" algn="bl" rotWithShape="0">
              <a:srgbClr val="0B4249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166360" y="2139696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work/assets/icons/questio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23042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81728" y="28803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700016" y="338328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Eligibility, documents, fees and next steps are often unclear at the moment of action.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583680" y="1965960"/>
            <a:ext cx="1847088" cy="233172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127000" dist="38100" dir="5400000" algn="bl" rotWithShape="0">
              <a:srgbClr val="0B4249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78040" y="2139696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work/assets/icons/hourglas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632" y="230428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93408" y="28803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effort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711696" y="338328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longer search time, repeated attempts and avoidable confusion.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48640" y="4572000"/>
            <a:ext cx="7315200" cy="1234440"/>
          </a:xfrm>
          <a:prstGeom prst="roundRect">
            <a:avLst>
              <a:gd name="adj" fmla="val 5926"/>
            </a:avLst>
          </a:prstGeom>
          <a:solidFill>
            <a:srgbClr val="0B4249"/>
          </a:solidFill>
          <a:ln/>
        </p:spPr>
      </p:sp>
      <p:sp>
        <p:nvSpPr>
          <p:cNvPr id="26" name="Text 20"/>
          <p:cNvSpPr/>
          <p:nvPr/>
        </p:nvSpPr>
        <p:spPr>
          <a:xfrm>
            <a:off x="822960" y="47000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QUESTION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22960" y="4974336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 turn bureaucracy from a maze of information into a guided, citizen-friendly journey?</a:t>
            </a:r>
            <a:endParaRPr lang="en-US" sz="1450" dirty="0"/>
          </a:p>
        </p:txBody>
      </p:sp>
      <p:pic>
        <p:nvPicPr>
          <p:cNvPr id="28" name="Image 4" descr="/home/claude/work/assets/illustrations/hero_wh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1783080"/>
            <a:ext cx="3246120" cy="2743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30175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PEOPLE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around the citizen, built for the ecosystem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37396" y="1691640"/>
            <a:ext cx="3246120" cy="41605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101600" dist="381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5996" y="189280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/>
        </p:spPr>
      </p:sp>
      <p:sp>
        <p:nvSpPr>
          <p:cNvPr id="6" name="Text 4"/>
          <p:cNvSpPr/>
          <p:nvPr/>
        </p:nvSpPr>
        <p:spPr>
          <a:xfrm>
            <a:off x="1065996" y="18928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26116" y="230886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work/assets/icons/users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286" y="2526030"/>
            <a:ext cx="434340" cy="4343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26116" y="2308860"/>
            <a:ext cx="868680" cy="868680"/>
          </a:xfrm>
          <a:prstGeom prst="ellipse">
            <a:avLst/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0276" y="331927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30004" y="3813048"/>
            <a:ext cx="26609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senior citizens · first-time applicants · people unfamiliar with government processes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03156" y="5029200"/>
            <a:ext cx="2514600" cy="0"/>
          </a:xfrm>
          <a:prstGeom prst="line">
            <a:avLst/>
          </a:prstGeom>
          <a:noFill/>
          <a:ln w="12700">
            <a:solidFill>
              <a:srgbClr val="E3E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0004" y="5184648"/>
            <a:ext cx="2660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Clarity, steps, documents, simple language.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39548" y="1691640"/>
            <a:ext cx="3246120" cy="41605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101600" dist="381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68148" y="189280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DCF1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68148" y="18928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28268" y="230886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/home/claude/work/assets/icons/handshake_00A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438" y="2526030"/>
            <a:ext cx="434340" cy="43434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528268" y="2308860"/>
            <a:ext cx="868680" cy="868680"/>
          </a:xfrm>
          <a:prstGeom prst="ellipse">
            <a:avLst/>
          </a:prstGeom>
          <a:ln w="19050">
            <a:solidFill>
              <a:srgbClr val="00A89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22428" y="331927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Supporters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632156" y="3813048"/>
            <a:ext cx="26609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 · volunteers · help-desk operators · digital-access facilitators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705308" y="5029200"/>
            <a:ext cx="2514600" cy="0"/>
          </a:xfrm>
          <a:prstGeom prst="line">
            <a:avLst/>
          </a:prstGeom>
          <a:noFill/>
          <a:ln w="12700">
            <a:solidFill>
              <a:srgbClr val="E3EEE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632156" y="5184648"/>
            <a:ext cx="2660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Faster, repeatable answers and easier explanations.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841700" y="1691640"/>
            <a:ext cx="3246120" cy="41605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101600" dist="381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070300" y="189280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EACD"/>
          </a:solidFill>
          <a:ln/>
        </p:spPr>
      </p:sp>
      <p:sp>
        <p:nvSpPr>
          <p:cNvPr id="26" name="Text 22"/>
          <p:cNvSpPr/>
          <p:nvPr/>
        </p:nvSpPr>
        <p:spPr>
          <a:xfrm>
            <a:off x="8070300" y="18928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9030420" y="230886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2" descr="/home/claude/work/assets/icons/landmark_E8A3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7590" y="2526030"/>
            <a:ext cx="434340" cy="43434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9030420" y="2308860"/>
            <a:ext cx="868680" cy="868680"/>
          </a:xfrm>
          <a:prstGeom prst="ellipse">
            <a:avLst/>
          </a:prstGeom>
          <a:ln w="19050">
            <a:solidFill>
              <a:srgbClr val="E8A33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024580" y="331927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8134308" y="3813048"/>
            <a:ext cx="26609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information owners · administrators · project evaluators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207460" y="5029200"/>
            <a:ext cx="2514600" cy="0"/>
          </a:xfrm>
          <a:prstGeom prst="line">
            <a:avLst/>
          </a:prstGeom>
          <a:noFill/>
          <a:ln w="12700">
            <a:solidFill>
              <a:srgbClr val="E3EEE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134308" y="5184648"/>
            <a:ext cx="2660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Grounded information, maintainability, reliability, privacy and measurable performance.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Citizen-first</a:t>
            </a:r>
            <a:r>
              <a:rPr lang="en-US" sz="13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Trust-aware</a:t>
            </a:r>
            <a:r>
              <a:rPr lang="en-US" sz="13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30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30175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B4FEC0A-2796-481D-32BA-01C6E52893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7822" t="9119" b="48462"/>
          <a:stretch>
            <a:fillRect/>
          </a:stretch>
        </p:blipFill>
        <p:spPr>
          <a:xfrm>
            <a:off x="8770536" y="2280921"/>
            <a:ext cx="1547813" cy="9652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BDB284A-22B2-2534-9631-654E368B560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521" t="7466" r="35347" b="48065"/>
          <a:stretch>
            <a:fillRect/>
          </a:stretch>
        </p:blipFill>
        <p:spPr>
          <a:xfrm>
            <a:off x="5213847" y="2303441"/>
            <a:ext cx="1497521" cy="9106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11F79BE-ABEB-68DD-98DD-FDBE86E079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414" r="69311" b="45237"/>
          <a:stretch>
            <a:fillRect/>
          </a:stretch>
        </p:blipFill>
        <p:spPr>
          <a:xfrm>
            <a:off x="1814375" y="2280921"/>
            <a:ext cx="1476185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assistant, multiple moments of need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organized around real citizen tasks rather than around technology.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33172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assets/icons/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233629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67128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service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2880360"/>
            <a:ext cx="2002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apply?" → eligibility, documents, fees and procedure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63240" y="1965960"/>
            <a:ext cx="233172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21945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work/assets/icons/comment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572" y="233629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2167128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 follow-up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27832" y="2880360"/>
            <a:ext cx="2002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 I don't have this document?" → context-aware continuation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577840" y="1965960"/>
            <a:ext cx="233172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06440" y="21945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work/assets/icons/fileal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172" y="233629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2167128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a document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742432" y="2880360"/>
            <a:ext cx="2002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complex legal/government document → simpler explanation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977640"/>
            <a:ext cx="233172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3" descr="/home/claude/work/assets/icons/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" y="4347972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178808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language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13232" y="4892040"/>
            <a:ext cx="2002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across 12 Indian languages for broader accessibility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063240" y="3977640"/>
            <a:ext cx="233172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42062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4" descr="/home/claude/work/assets/icons/mic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3572" y="4347972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31920" y="4178808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 instead of type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227832" y="4892040"/>
            <a:ext cx="2002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+ audio output for hands-free / low-literacy scenarios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577840" y="3977640"/>
            <a:ext cx="233172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806440" y="42062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5" descr="/home/claude/work/assets/icons/history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8172" y="4347972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46520" y="4178808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later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742432" y="4892040"/>
            <a:ext cx="2002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users can access persistent conversation history</a:t>
            </a:r>
            <a:endParaRPr lang="en-US" sz="1000" dirty="0"/>
          </a:p>
        </p:txBody>
      </p:sp>
      <p:pic>
        <p:nvPicPr>
          <p:cNvPr id="35" name="Image 6" descr="/home/claude/work/assets/illustrations/hero_usecas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5632" y="1805940"/>
            <a:ext cx="3246120" cy="32461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30175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BharatAssist turns a question into a guided action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interface connects service discovery, grounded AI guidance and document understanding.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755648" cy="2148840"/>
          </a:xfrm>
          <a:prstGeom prst="roundRect">
            <a:avLst>
              <a:gd name="adj" fmla="val 4167"/>
            </a:avLst>
          </a:prstGeom>
          <a:solidFill>
            <a:srgbClr val="0B4249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0391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" y="25511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work/assets/icons/uploa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32" y="2692908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004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/ Upload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3502152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30" dirty="0">
                <a:solidFill>
                  <a:srgbClr val="BFD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enters a query or uploads a document</a:t>
            </a:r>
            <a:endParaRPr lang="en-US" sz="830" dirty="0"/>
          </a:p>
        </p:txBody>
      </p:sp>
      <p:pic>
        <p:nvPicPr>
          <p:cNvPr id="11" name="Image 1" descr="/home/claude/work/assets/icons/arrowright_E8A3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424" y="2939796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395728" y="1965960"/>
            <a:ext cx="1755648" cy="2148840"/>
          </a:xfrm>
          <a:prstGeom prst="roundRect">
            <a:avLst>
              <a:gd name="adj" fmla="val 4167"/>
            </a:avLst>
          </a:prstGeom>
          <a:solidFill>
            <a:srgbClr val="0B4249"/>
          </a:solidFill>
          <a:ln/>
        </p:spPr>
      </p:sp>
      <p:sp>
        <p:nvSpPr>
          <p:cNvPr id="13" name="Text 9"/>
          <p:cNvSpPr/>
          <p:nvPr/>
        </p:nvSpPr>
        <p:spPr>
          <a:xfrm>
            <a:off x="2505456" y="20391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990088" y="25511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/home/claude/work/assets/icons/brai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20" y="269290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87168" y="32004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2505456" y="3502152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30" dirty="0">
                <a:solidFill>
                  <a:srgbClr val="BFD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validated, context is retained and sensitive data is protected</a:t>
            </a:r>
            <a:endParaRPr lang="en-US" sz="830" dirty="0"/>
          </a:p>
        </p:txBody>
      </p:sp>
      <p:pic>
        <p:nvPicPr>
          <p:cNvPr id="18" name="Image 3" descr="/home/claude/work/assets/icons/arrowright_E8A3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2939796"/>
            <a:ext cx="201168" cy="20116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242816" y="1965960"/>
            <a:ext cx="1755648" cy="2148840"/>
          </a:xfrm>
          <a:prstGeom prst="roundRect">
            <a:avLst>
              <a:gd name="adj" fmla="val 4167"/>
            </a:avLst>
          </a:prstGeom>
          <a:solidFill>
            <a:srgbClr val="0B4249"/>
          </a:solidFill>
          <a:ln/>
        </p:spPr>
      </p:sp>
      <p:sp>
        <p:nvSpPr>
          <p:cNvPr id="20" name="Text 14"/>
          <p:cNvSpPr/>
          <p:nvPr/>
        </p:nvSpPr>
        <p:spPr>
          <a:xfrm>
            <a:off x="4352544" y="20391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837176" y="25511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/home/claude/work/assets/icons/databas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908" y="2692908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34256" y="32004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352544" y="3502152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30" dirty="0">
                <a:solidFill>
                  <a:srgbClr val="BFD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verified knowledge / document content is retrieved</a:t>
            </a:r>
            <a:endParaRPr lang="en-US" sz="830" dirty="0"/>
          </a:p>
        </p:txBody>
      </p:sp>
      <p:pic>
        <p:nvPicPr>
          <p:cNvPr id="25" name="Image 5" descr="/home/claude/work/assets/icons/arrowright_E8A3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939796"/>
            <a:ext cx="201168" cy="20116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089904" y="1965960"/>
            <a:ext cx="1755648" cy="2148840"/>
          </a:xfrm>
          <a:prstGeom prst="roundRect">
            <a:avLst>
              <a:gd name="adj" fmla="val 4167"/>
            </a:avLst>
          </a:prstGeom>
          <a:solidFill>
            <a:srgbClr val="0B4249"/>
          </a:solidFill>
          <a:ln/>
        </p:spPr>
      </p:sp>
      <p:sp>
        <p:nvSpPr>
          <p:cNvPr id="27" name="Text 19"/>
          <p:cNvSpPr/>
          <p:nvPr/>
        </p:nvSpPr>
        <p:spPr>
          <a:xfrm>
            <a:off x="6199632" y="20391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684264" y="25511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6" descr="/home/claude/work/assets/icons/commentdot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5996" y="2692908"/>
            <a:ext cx="283464" cy="28346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181344" y="32004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6199632" y="3502152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30" dirty="0">
                <a:solidFill>
                  <a:srgbClr val="BFD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a clear, contextual explanation</a:t>
            </a:r>
            <a:endParaRPr lang="en-US" sz="830" dirty="0"/>
          </a:p>
        </p:txBody>
      </p:sp>
      <p:pic>
        <p:nvPicPr>
          <p:cNvPr id="32" name="Image 7" descr="/home/claude/work/assets/icons/arrowright_E8A3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88" y="2939796"/>
            <a:ext cx="201168" cy="201168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936992" y="1965960"/>
            <a:ext cx="1755648" cy="2148840"/>
          </a:xfrm>
          <a:prstGeom prst="roundRect">
            <a:avLst>
              <a:gd name="adj" fmla="val 4167"/>
            </a:avLst>
          </a:prstGeom>
          <a:solidFill>
            <a:srgbClr val="0B4249"/>
          </a:solidFill>
          <a:ln/>
        </p:spPr>
      </p:sp>
      <p:sp>
        <p:nvSpPr>
          <p:cNvPr id="34" name="Text 24"/>
          <p:cNvSpPr/>
          <p:nvPr/>
        </p:nvSpPr>
        <p:spPr>
          <a:xfrm>
            <a:off x="8046720" y="20391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8531352" y="25511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8" descr="/home/claude/work/assets/icons/checkcircl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3084" y="2692908"/>
            <a:ext cx="283464" cy="28346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028432" y="32004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250" dirty="0"/>
          </a:p>
        </p:txBody>
      </p:sp>
      <p:sp>
        <p:nvSpPr>
          <p:cNvPr id="38" name="Text 27"/>
          <p:cNvSpPr/>
          <p:nvPr/>
        </p:nvSpPr>
        <p:spPr>
          <a:xfrm>
            <a:off x="8046720" y="3502152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30" dirty="0">
                <a:solidFill>
                  <a:srgbClr val="BFD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gets steps, documents, fees and next actions</a:t>
            </a:r>
            <a:endParaRPr lang="en-US" sz="830" dirty="0"/>
          </a:p>
        </p:txBody>
      </p:sp>
      <p:sp>
        <p:nvSpPr>
          <p:cNvPr id="39" name="Shape 28"/>
          <p:cNvSpPr/>
          <p:nvPr/>
        </p:nvSpPr>
        <p:spPr>
          <a:xfrm>
            <a:off x="548640" y="4434840"/>
            <a:ext cx="7635240" cy="1371600"/>
          </a:xfrm>
          <a:prstGeom prst="roundRect">
            <a:avLst>
              <a:gd name="adj" fmla="val 5333"/>
            </a:avLst>
          </a:prstGeom>
          <a:solidFill>
            <a:srgbClr val="E8A33D"/>
          </a:solidFill>
          <a:ln/>
        </p:spPr>
      </p:sp>
      <p:sp>
        <p:nvSpPr>
          <p:cNvPr id="40" name="Text 29"/>
          <p:cNvSpPr/>
          <p:nvPr/>
        </p:nvSpPr>
        <p:spPr>
          <a:xfrm>
            <a:off x="82296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PROMISE</a:t>
            </a:r>
            <a:endParaRPr lang="en-US" sz="1050" dirty="0"/>
          </a:p>
        </p:txBody>
      </p:sp>
      <p:sp>
        <p:nvSpPr>
          <p:cNvPr id="41" name="Text 30"/>
          <p:cNvSpPr/>
          <p:nvPr/>
        </p:nvSpPr>
        <p:spPr>
          <a:xfrm>
            <a:off x="822960" y="4864608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i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searching. Less jargon. More confidence to complete the task.</a:t>
            </a:r>
            <a:endParaRPr lang="en-US" sz="1800" dirty="0"/>
          </a:p>
        </p:txBody>
      </p:sp>
      <p:pic>
        <p:nvPicPr>
          <p:cNvPr id="42" name="Image 9" descr="/home/claude/work/assets/illustrations/hero_solu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0" y="4343400"/>
            <a:ext cx="3291840" cy="230428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</a:t>
            </a:r>
            <a:endParaRPr lang="en-US" sz="900" dirty="0"/>
          </a:p>
        </p:txBody>
      </p:sp>
      <p:sp>
        <p:nvSpPr>
          <p:cNvPr id="44" name="Text 32"/>
          <p:cNvSpPr/>
          <p:nvPr/>
        </p:nvSpPr>
        <p:spPr>
          <a:xfrm>
            <a:off x="30175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set built for trust, accessibility and continuity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51460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76200" dist="25400" dir="5400000" algn="bl" rotWithShape="0">
              <a:srgbClr val="0B4249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work/assets/icons/glob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568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6736" y="179222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12-language interface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16736" y="2231136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Indian-language interaction for wider reach.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3209544" y="1627632"/>
            <a:ext cx="251460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76200" dist="25400" dir="5400000" algn="bl" rotWithShape="0">
              <a:srgbClr val="0B4249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74136" y="182880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work/assets/icons/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95681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179222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Source-grounded RAG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977640" y="2231136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knowledge before generation to reduce unsupported answers.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5870448" y="1627632"/>
            <a:ext cx="251460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76200" dist="25400" dir="5400000" algn="bl" rotWithShape="0">
              <a:srgbClr val="0B4249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182880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work/assets/icons/commentdot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95681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8544" y="179222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follow-ups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38544" y="2231136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state helps the assistant answer the next question.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548640" y="3145536"/>
            <a:ext cx="251460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76200" dist="25400" dir="5400000" algn="bl" rotWithShape="0">
              <a:srgbClr val="0B4249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3346704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/home/claude/work/assets/icons/filecontrac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47472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16736" y="33101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document simplifier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316736" y="37490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complex government/legal text into simpler explanations.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3209544" y="3145536"/>
            <a:ext cx="251460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76200" dist="25400" dir="5400000" algn="bl" rotWithShape="0">
              <a:srgbClr val="0B4249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74136" y="3346704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4" descr="/home/claude/work/assets/icons/mic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2152" y="347472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77640" y="33101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STT + TTS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977640" y="37490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the assistant and hear responses.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5870448" y="3145536"/>
            <a:ext cx="251460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76200" dist="25400" dir="5400000" algn="bl" rotWithShape="0">
              <a:srgbClr val="0B4249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035040" y="334670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/home/claude/work/assets/icons/usershiel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347472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38544" y="33101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Zero-LLM PII redaction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638544" y="37490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personal information is scrubbed before AI processing.</a:t>
            </a:r>
            <a:endParaRPr lang="en-US" sz="930" dirty="0"/>
          </a:p>
        </p:txBody>
      </p:sp>
      <p:sp>
        <p:nvSpPr>
          <p:cNvPr id="34" name="Shape 26"/>
          <p:cNvSpPr/>
          <p:nvPr/>
        </p:nvSpPr>
        <p:spPr>
          <a:xfrm>
            <a:off x="548640" y="4663440"/>
            <a:ext cx="251460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76200" dist="25400" dir="5400000" algn="bl" rotWithShape="0">
              <a:srgbClr val="0B4249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13232" y="486460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6" name="Image 6" descr="/home/claude/work/assets/icons/mobil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4992624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16736" y="4828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 authentication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1316736" y="5266944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mobile-number based login with password and OTP flows.</a:t>
            </a:r>
            <a:endParaRPr lang="en-US" sz="930" dirty="0"/>
          </a:p>
        </p:txBody>
      </p:sp>
      <p:sp>
        <p:nvSpPr>
          <p:cNvPr id="39" name="Shape 30"/>
          <p:cNvSpPr/>
          <p:nvPr/>
        </p:nvSpPr>
        <p:spPr>
          <a:xfrm>
            <a:off x="3209544" y="4663440"/>
            <a:ext cx="251460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76200" dist="25400" dir="5400000" algn="bl" rotWithShape="0">
              <a:srgbClr val="0B4249">
                <a:alpha val="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374136" y="486460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1" name="Image 7" descr="/home/claude/work/assets/icons/history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2152" y="4992624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977640" y="4828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chat history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3977640" y="5266944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citizens can revisit previous assistance.</a:t>
            </a:r>
            <a:endParaRPr lang="en-US" sz="930" dirty="0"/>
          </a:p>
        </p:txBody>
      </p:sp>
      <p:sp>
        <p:nvSpPr>
          <p:cNvPr id="44" name="Shape 34"/>
          <p:cNvSpPr/>
          <p:nvPr/>
        </p:nvSpPr>
        <p:spPr>
          <a:xfrm>
            <a:off x="5870448" y="4663440"/>
            <a:ext cx="251460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76200" dist="25400" dir="5400000" algn="bl" rotWithShape="0">
              <a:srgbClr val="0B4249">
                <a:alpha val="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035040" y="486460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6" name="Image 8" descr="/home/claude/work/assets/icons/signout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3056" y="4992624"/>
            <a:ext cx="256032" cy="25603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638544" y="4828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Kiosk auto-logout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6638544" y="5266944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Public-terminal sessions are protected from accidental leakage.</a:t>
            </a:r>
            <a:endParaRPr lang="en-US" sz="930" dirty="0"/>
          </a:p>
        </p:txBody>
      </p:sp>
      <p:sp>
        <p:nvSpPr>
          <p:cNvPr id="49" name="Text 3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30175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833E505-BAAB-E3AD-DF24-BA4A3C31D77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2444" t="50000" r="50355"/>
          <a:stretch>
            <a:fillRect/>
          </a:stretch>
        </p:blipFill>
        <p:spPr>
          <a:xfrm>
            <a:off x="8686800" y="859535"/>
            <a:ext cx="3056467" cy="53295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modular pipeline keeps the AI useful — and controllable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772400" cy="914400"/>
          </a:xfrm>
          <a:prstGeom prst="roundRect">
            <a:avLst>
              <a:gd name="adj" fmla="val 7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965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UI  ·  Auth  ·  Chat  ·  Document Upload  ·  Voice  ·  Multilingual UI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7772400" cy="914400"/>
          </a:xfrm>
          <a:prstGeom prst="roundRect">
            <a:avLst>
              <a:gd name="adj" fmla="val 70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1693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 →  Auth Controller  →  PII Redaction  →  RAG Retrieval  →  Gemini Gateway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7772400" cy="914400"/>
          </a:xfrm>
          <a:prstGeom prst="roundRect">
            <a:avLst>
              <a:gd name="adj" fmla="val 7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1421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AI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·  ChromaDB  ·  sentence-transformers embeddings  ·  Gemini 2.5 Flash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038344"/>
            <a:ext cx="7772400" cy="786384"/>
          </a:xfrm>
          <a:prstGeom prst="roundRect">
            <a:avLst>
              <a:gd name="adj" fmla="val 8140"/>
            </a:avLst>
          </a:prstGeom>
          <a:solidFill>
            <a:srgbClr val="0B424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93208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14600" y="5093208"/>
            <a:ext cx="5669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D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 ·  CI/CD  ·  session controls  ·  source verification  ·  privacy safeguards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0" y="16916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CHOICES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95360" y="222199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833104" y="2093976"/>
            <a:ext cx="28254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Flask/Python backend keeps service logic modular and testable.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95360" y="322783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8833104" y="3099816"/>
            <a:ext cx="28254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sentence-transformers provide retrieval grounding.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95360" y="423367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8833104" y="4105656"/>
            <a:ext cx="28254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supports local persistence for users and chat history.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95360" y="523951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8833104" y="5111496"/>
            <a:ext cx="28254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multilingual UI and responsive design extend accessibility.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TRUST &amp;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useful only when citizens can rely on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work/assets/icons/lin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7602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3677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103120"/>
            <a:ext cx="31181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relevant knowledge before generation.</a:t>
            </a:r>
            <a:endParaRPr lang="en-US" sz="93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guidance is positioned as guidance; official sources remain the authority.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4270248" y="15087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1645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work/assets/icons/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148" y="17602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47488" y="163677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71416" y="2103120"/>
            <a:ext cx="31181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is redacted before the LLM layer.</a:t>
            </a:r>
            <a:endParaRPr lang="en-US" sz="93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auto-logout and guest/logged-in separation reduce leakage.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7991856" y="15087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0456" y="1645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work/assets/icons/vial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756" y="17602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69096" y="163677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93024" y="2103120"/>
            <a:ext cx="31181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automated tests cover frontend, APIs, AI assistant, simplifier, voice, auth, security and history.</a:t>
            </a:r>
            <a:endParaRPr lang="en-US" sz="93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target ≤ 2 min; RAG grounding confidence threshold 0.35.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0B4249"/>
          </a:solidFill>
          <a:ln/>
        </p:spPr>
      </p:sp>
      <p:sp>
        <p:nvSpPr>
          <p:cNvPr id="20" name="Text 15"/>
          <p:cNvSpPr/>
          <p:nvPr/>
        </p:nvSpPr>
        <p:spPr>
          <a:xfrm>
            <a:off x="594360" y="397764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 min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594360" y="4544568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86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(IRT)</a:t>
            </a:r>
            <a:endParaRPr lang="en-US" sz="860" dirty="0"/>
          </a:p>
        </p:txBody>
      </p:sp>
      <p:sp>
        <p:nvSpPr>
          <p:cNvPr id="22" name="Shape 17"/>
          <p:cNvSpPr/>
          <p:nvPr/>
        </p:nvSpPr>
        <p:spPr>
          <a:xfrm>
            <a:off x="2395728" y="379476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23" name="Text 18"/>
          <p:cNvSpPr/>
          <p:nvPr/>
        </p:nvSpPr>
        <p:spPr>
          <a:xfrm>
            <a:off x="2441448" y="397764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4/5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2441448" y="4544568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</a:t>
            </a:r>
            <a:endParaRPr lang="en-US" sz="86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target</a:t>
            </a:r>
            <a:endParaRPr lang="en-US" sz="860" dirty="0"/>
          </a:p>
        </p:txBody>
      </p:sp>
      <p:sp>
        <p:nvSpPr>
          <p:cNvPr id="25" name="Shape 20"/>
          <p:cNvSpPr/>
          <p:nvPr/>
        </p:nvSpPr>
        <p:spPr>
          <a:xfrm>
            <a:off x="4242816" y="379476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0B4249"/>
          </a:solidFill>
          <a:ln/>
        </p:spPr>
      </p:sp>
      <p:sp>
        <p:nvSpPr>
          <p:cNvPr id="26" name="Text 21"/>
          <p:cNvSpPr/>
          <p:nvPr/>
        </p:nvSpPr>
        <p:spPr>
          <a:xfrm>
            <a:off x="4288536" y="397764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4/5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4288536" y="4544568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</a:t>
            </a:r>
            <a:endParaRPr lang="en-US" sz="86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60" dirty="0"/>
          </a:p>
        </p:txBody>
      </p:sp>
      <p:sp>
        <p:nvSpPr>
          <p:cNvPr id="28" name="Shape 23"/>
          <p:cNvSpPr/>
          <p:nvPr/>
        </p:nvSpPr>
        <p:spPr>
          <a:xfrm>
            <a:off x="6089904" y="379476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29" name="Text 24"/>
          <p:cNvSpPr/>
          <p:nvPr/>
        </p:nvSpPr>
        <p:spPr>
          <a:xfrm>
            <a:off x="6135624" y="397764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99%</a:t>
            </a:r>
            <a:endParaRPr lang="en-US" sz="1900" dirty="0"/>
          </a:p>
        </p:txBody>
      </p:sp>
      <p:sp>
        <p:nvSpPr>
          <p:cNvPr id="30" name="Text 25"/>
          <p:cNvSpPr/>
          <p:nvPr/>
        </p:nvSpPr>
        <p:spPr>
          <a:xfrm>
            <a:off x="6135624" y="4544568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6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60" dirty="0"/>
          </a:p>
        </p:txBody>
      </p:sp>
      <p:sp>
        <p:nvSpPr>
          <p:cNvPr id="31" name="Shape 26"/>
          <p:cNvSpPr/>
          <p:nvPr/>
        </p:nvSpPr>
        <p:spPr>
          <a:xfrm>
            <a:off x="7936992" y="379476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0B4249"/>
          </a:solidFill>
          <a:ln/>
        </p:spPr>
      </p:sp>
      <p:sp>
        <p:nvSpPr>
          <p:cNvPr id="32" name="Text 27"/>
          <p:cNvSpPr/>
          <p:nvPr/>
        </p:nvSpPr>
        <p:spPr>
          <a:xfrm>
            <a:off x="7982712" y="397764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/ 33</a:t>
            </a:r>
            <a:endParaRPr lang="en-US" sz="1900" dirty="0"/>
          </a:p>
        </p:txBody>
      </p:sp>
      <p:sp>
        <p:nvSpPr>
          <p:cNvPr id="33" name="Text 28"/>
          <p:cNvSpPr/>
          <p:nvPr/>
        </p:nvSpPr>
        <p:spPr>
          <a:xfrm>
            <a:off x="7982712" y="4544568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</a:t>
            </a:r>
            <a:endParaRPr lang="en-US" sz="86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(current)</a:t>
            </a:r>
            <a:endParaRPr lang="en-US" sz="860" dirty="0"/>
          </a:p>
        </p:txBody>
      </p:sp>
      <p:sp>
        <p:nvSpPr>
          <p:cNvPr id="34" name="Shape 29"/>
          <p:cNvSpPr/>
          <p:nvPr/>
        </p:nvSpPr>
        <p:spPr>
          <a:xfrm>
            <a:off x="9784080" y="379476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35" name="Text 30"/>
          <p:cNvSpPr/>
          <p:nvPr/>
        </p:nvSpPr>
        <p:spPr>
          <a:xfrm>
            <a:off x="9829800" y="397764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900" dirty="0"/>
          </a:p>
        </p:txBody>
      </p:sp>
      <p:sp>
        <p:nvSpPr>
          <p:cNvPr id="36" name="Text 31"/>
          <p:cNvSpPr/>
          <p:nvPr/>
        </p:nvSpPr>
        <p:spPr>
          <a:xfrm>
            <a:off x="9829800" y="4544568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scrubbing</a:t>
            </a:r>
            <a:endParaRPr lang="en-US" sz="86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(current)</a:t>
            </a:r>
            <a:endParaRPr lang="en-US" sz="860" dirty="0"/>
          </a:p>
        </p:txBody>
      </p:sp>
      <p:sp>
        <p:nvSpPr>
          <p:cNvPr id="37" name="Text 32"/>
          <p:cNvSpPr/>
          <p:nvPr/>
        </p:nvSpPr>
        <p:spPr>
          <a:xfrm>
            <a:off x="548640" y="532180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and current results come from the project proposal / current project evaluation.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30175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 chatbot — a guided civic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74920" cy="384048"/>
          </a:xfrm>
          <a:prstGeom prst="roundRect">
            <a:avLst>
              <a:gd name="adj" fmla="val 11905"/>
            </a:avLst>
          </a:prstGeom>
          <a:solidFill>
            <a:srgbClr val="E4EE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CHAT EXPERIENCE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06440" y="1645920"/>
            <a:ext cx="5806440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806440" y="1645920"/>
            <a:ext cx="5806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APPROACH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109960" cy="5669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work/assets/icons/timescircle_C155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359152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0704" y="219456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isolation</a:t>
            </a:r>
            <a:endParaRPr lang="en-US" sz="1200" dirty="0"/>
          </a:p>
        </p:txBody>
      </p:sp>
      <p:pic>
        <p:nvPicPr>
          <p:cNvPr id="11" name="Image 1" descr="/home/claude/work/assets/icons/arrowright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2377440"/>
            <a:ext cx="201168" cy="201168"/>
          </a:xfrm>
          <a:prstGeom prst="rect">
            <a:avLst/>
          </a:prstGeom>
        </p:spPr>
      </p:pic>
      <p:pic>
        <p:nvPicPr>
          <p:cNvPr id="12" name="Image 2" descr="/home/claude/work/assets/icons/checkcircle_00A8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235915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91072" y="219456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follow-ups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2761488"/>
            <a:ext cx="11109960" cy="566928"/>
          </a:xfrm>
          <a:prstGeom prst="rect">
            <a:avLst/>
          </a:prstGeom>
          <a:solidFill>
            <a:srgbClr val="FBFDFD"/>
          </a:solidFill>
          <a:ln/>
        </p:spPr>
      </p:sp>
      <p:pic>
        <p:nvPicPr>
          <p:cNvPr id="15" name="Image 3" descr="/home/claude/work/assets/icons/timescircle_C155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92608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60704" y="276148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generate unsupported text</a:t>
            </a:r>
            <a:endParaRPr lang="en-US" sz="1200" dirty="0"/>
          </a:p>
        </p:txBody>
      </p:sp>
      <p:pic>
        <p:nvPicPr>
          <p:cNvPr id="17" name="Image 4" descr="/home/claude/work/assets/icons/arrowright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2944368"/>
            <a:ext cx="201168" cy="201168"/>
          </a:xfrm>
          <a:prstGeom prst="rect">
            <a:avLst/>
          </a:prstGeom>
        </p:spPr>
      </p:pic>
      <p:pic>
        <p:nvPicPr>
          <p:cNvPr id="18" name="Image 5" descr="/home/claude/work/assets/icons/checkcircle_00A8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2926080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91072" y="2761488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responses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548640" y="3328416"/>
            <a:ext cx="11109960" cy="5669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6" descr="/home/claude/work/assets/icons/timescircle_C155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93008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60704" y="332841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One-language assumption</a:t>
            </a:r>
            <a:endParaRPr lang="en-US" sz="1200" dirty="0"/>
          </a:p>
        </p:txBody>
      </p:sp>
      <p:pic>
        <p:nvPicPr>
          <p:cNvPr id="23" name="Image 7" descr="/home/claude/work/assets/icons/arrowright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3511296"/>
            <a:ext cx="201168" cy="201168"/>
          </a:xfrm>
          <a:prstGeom prst="rect">
            <a:avLst/>
          </a:prstGeom>
        </p:spPr>
      </p:pic>
      <p:pic>
        <p:nvPicPr>
          <p:cNvPr id="24" name="Image 8" descr="/home/claude/work/assets/icons/checkcircle_00A8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3493008"/>
            <a:ext cx="237744" cy="237744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291072" y="3328416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Indian languages</a:t>
            </a:r>
            <a:endParaRPr lang="en-US" sz="1200" dirty="0"/>
          </a:p>
        </p:txBody>
      </p:sp>
      <p:sp>
        <p:nvSpPr>
          <p:cNvPr id="26" name="Shape 15"/>
          <p:cNvSpPr/>
          <p:nvPr/>
        </p:nvSpPr>
        <p:spPr>
          <a:xfrm>
            <a:off x="548640" y="3895344"/>
            <a:ext cx="11109960" cy="566928"/>
          </a:xfrm>
          <a:prstGeom prst="rect">
            <a:avLst/>
          </a:prstGeom>
          <a:solidFill>
            <a:srgbClr val="FBFDFD"/>
          </a:solidFill>
          <a:ln/>
        </p:spPr>
      </p:sp>
      <p:pic>
        <p:nvPicPr>
          <p:cNvPr id="27" name="Image 9" descr="/home/claude/work/assets/icons/timescircle_C155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59936"/>
            <a:ext cx="237744" cy="237744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1060704" y="389534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interaction</a:t>
            </a:r>
            <a:endParaRPr lang="en-US" sz="1200" dirty="0"/>
          </a:p>
        </p:txBody>
      </p:sp>
      <p:pic>
        <p:nvPicPr>
          <p:cNvPr id="29" name="Image 10" descr="/home/claude/work/assets/icons/arrowright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4078224"/>
            <a:ext cx="201168" cy="201168"/>
          </a:xfrm>
          <a:prstGeom prst="rect">
            <a:avLst/>
          </a:prstGeom>
        </p:spPr>
      </p:pic>
      <p:pic>
        <p:nvPicPr>
          <p:cNvPr id="30" name="Image 11" descr="/home/claude/work/assets/icons/checkcircle_00A8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4059936"/>
            <a:ext cx="237744" cy="237744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291072" y="389534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+ TTS voice interaction</a:t>
            </a:r>
            <a:endParaRPr lang="en-US" sz="1200" dirty="0"/>
          </a:p>
        </p:txBody>
      </p:sp>
      <p:sp>
        <p:nvSpPr>
          <p:cNvPr id="32" name="Shape 18"/>
          <p:cNvSpPr/>
          <p:nvPr/>
        </p:nvSpPr>
        <p:spPr>
          <a:xfrm>
            <a:off x="548640" y="4462272"/>
            <a:ext cx="11109960" cy="5669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3" name="Image 12" descr="/home/claude/work/assets/icons/timescircle_C155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626864"/>
            <a:ext cx="237744" cy="237744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1060704" y="446227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added later</a:t>
            </a:r>
            <a:endParaRPr lang="en-US" sz="1200" dirty="0"/>
          </a:p>
        </p:txBody>
      </p:sp>
      <p:pic>
        <p:nvPicPr>
          <p:cNvPr id="35" name="Image 13" descr="/home/claude/work/assets/icons/arrowright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4645152"/>
            <a:ext cx="201168" cy="201168"/>
          </a:xfrm>
          <a:prstGeom prst="rect">
            <a:avLst/>
          </a:prstGeom>
        </p:spPr>
      </p:pic>
      <p:pic>
        <p:nvPicPr>
          <p:cNvPr id="36" name="Image 14" descr="/home/claude/work/assets/icons/checkcircle_00A8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4626864"/>
            <a:ext cx="237744" cy="237744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6291072" y="4462272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before LLM</a:t>
            </a:r>
            <a:endParaRPr lang="en-US" sz="1200" dirty="0"/>
          </a:p>
        </p:txBody>
      </p:sp>
      <p:sp>
        <p:nvSpPr>
          <p:cNvPr id="38" name="Shape 21"/>
          <p:cNvSpPr/>
          <p:nvPr/>
        </p:nvSpPr>
        <p:spPr>
          <a:xfrm>
            <a:off x="548640" y="5029200"/>
            <a:ext cx="11109960" cy="566928"/>
          </a:xfrm>
          <a:prstGeom prst="rect">
            <a:avLst/>
          </a:prstGeom>
          <a:solidFill>
            <a:srgbClr val="FBFDFD"/>
          </a:solidFill>
          <a:ln/>
        </p:spPr>
      </p:sp>
      <p:pic>
        <p:nvPicPr>
          <p:cNvPr id="39" name="Image 15" descr="/home/claude/work/assets/icons/timescircle_C155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193792"/>
            <a:ext cx="237744" cy="237744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1060704" y="502920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disappears</a:t>
            </a:r>
            <a:endParaRPr lang="en-US" sz="1200" dirty="0"/>
          </a:p>
        </p:txBody>
      </p:sp>
      <p:pic>
        <p:nvPicPr>
          <p:cNvPr id="41" name="Image 16" descr="/home/claude/work/assets/icons/arrowright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5212080"/>
            <a:ext cx="201168" cy="201168"/>
          </a:xfrm>
          <a:prstGeom prst="rect">
            <a:avLst/>
          </a:prstGeom>
        </p:spPr>
      </p:pic>
      <p:pic>
        <p:nvPicPr>
          <p:cNvPr id="42" name="Image 17" descr="/home/claude/work/assets/icons/checkcircle_00A8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5193792"/>
            <a:ext cx="237744" cy="237744"/>
          </a:xfrm>
          <a:prstGeom prst="rect">
            <a:avLst/>
          </a:prstGeom>
        </p:spPr>
      </p:pic>
      <p:sp>
        <p:nvSpPr>
          <p:cNvPr id="43" name="Text 23"/>
          <p:cNvSpPr/>
          <p:nvPr/>
        </p:nvSpPr>
        <p:spPr>
          <a:xfrm>
            <a:off x="6291072" y="502920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authenticated history</a:t>
            </a:r>
            <a:endParaRPr lang="en-US" sz="1200" dirty="0"/>
          </a:p>
        </p:txBody>
      </p:sp>
      <p:sp>
        <p:nvSpPr>
          <p:cNvPr id="44" name="Shape 24"/>
          <p:cNvSpPr/>
          <p:nvPr/>
        </p:nvSpPr>
        <p:spPr>
          <a:xfrm>
            <a:off x="548640" y="5596128"/>
            <a:ext cx="11109960" cy="5669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5" name="Image 18" descr="/home/claude/work/assets/icons/timescircle_C155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760720"/>
            <a:ext cx="237744" cy="237744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1060704" y="559612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Public-device risk</a:t>
            </a:r>
            <a:endParaRPr lang="en-US" sz="1200" dirty="0"/>
          </a:p>
        </p:txBody>
      </p:sp>
      <p:pic>
        <p:nvPicPr>
          <p:cNvPr id="47" name="Image 19" descr="/home/claude/work/assets/icons/arrowright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5779008"/>
            <a:ext cx="201168" cy="201168"/>
          </a:xfrm>
          <a:prstGeom prst="rect">
            <a:avLst/>
          </a:prstGeom>
        </p:spPr>
      </p:pic>
      <p:pic>
        <p:nvPicPr>
          <p:cNvPr id="48" name="Image 20" descr="/home/claude/work/assets/icons/checkcircle_00A8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5760720"/>
            <a:ext cx="237744" cy="237744"/>
          </a:xfrm>
          <a:prstGeom prst="rect">
            <a:avLst/>
          </a:prstGeom>
        </p:spPr>
      </p:pic>
      <p:sp>
        <p:nvSpPr>
          <p:cNvPr id="49" name="Text 26"/>
          <p:cNvSpPr/>
          <p:nvPr/>
        </p:nvSpPr>
        <p:spPr>
          <a:xfrm>
            <a:off x="6291072" y="5596128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auto-logout</a:t>
            </a:r>
            <a:endParaRPr lang="en-US" sz="1200" dirty="0"/>
          </a:p>
        </p:txBody>
      </p:sp>
      <p:sp>
        <p:nvSpPr>
          <p:cNvPr id="50" name="Text 2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</a:t>
            </a:r>
            <a:endParaRPr lang="en-US" sz="900" dirty="0"/>
          </a:p>
        </p:txBody>
      </p:sp>
      <p:sp>
        <p:nvSpPr>
          <p:cNvPr id="51" name="Text 28"/>
          <p:cNvSpPr/>
          <p:nvPr/>
        </p:nvSpPr>
        <p:spPr>
          <a:xfrm>
            <a:off x="30175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52" name="Text 2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VALUE &amp;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value first — sustainability through a platform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1325880" y="17099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Created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49808" y="2532888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2432304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search effort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749808" y="2971800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" y="2871216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understanding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749808" y="3410712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3310128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confidence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749808" y="3849624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932688" y="3749040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multilingual interaction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4270248" y="150876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471416" y="170992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1" descr="/home/claude/work/assets/icons/build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183794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47488" y="17099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Value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5047488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/ ecosystems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471416" y="253288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19"/>
          <p:cNvSpPr/>
          <p:nvPr/>
        </p:nvSpPr>
        <p:spPr>
          <a:xfrm>
            <a:off x="4654296" y="2432304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guidance</a:t>
            </a:r>
            <a:endParaRPr lang="en-US" sz="960" dirty="0"/>
          </a:p>
        </p:txBody>
      </p:sp>
      <p:sp>
        <p:nvSpPr>
          <p:cNvPr id="24" name="Shape 20"/>
          <p:cNvSpPr/>
          <p:nvPr/>
        </p:nvSpPr>
        <p:spPr>
          <a:xfrm>
            <a:off x="4471416" y="297180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1"/>
          <p:cNvSpPr/>
          <p:nvPr/>
        </p:nvSpPr>
        <p:spPr>
          <a:xfrm>
            <a:off x="4654296" y="2871216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repetitive support load</a:t>
            </a:r>
            <a:endParaRPr lang="en-US" sz="960" dirty="0"/>
          </a:p>
        </p:txBody>
      </p:sp>
      <p:sp>
        <p:nvSpPr>
          <p:cNvPr id="26" name="Shape 22"/>
          <p:cNvSpPr/>
          <p:nvPr/>
        </p:nvSpPr>
        <p:spPr>
          <a:xfrm>
            <a:off x="4471416" y="3410712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3"/>
          <p:cNvSpPr/>
          <p:nvPr/>
        </p:nvSpPr>
        <p:spPr>
          <a:xfrm>
            <a:off x="4654296" y="3310128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knowledge maintenance</a:t>
            </a:r>
            <a:endParaRPr lang="en-US" sz="960" dirty="0"/>
          </a:p>
        </p:txBody>
      </p:sp>
      <p:sp>
        <p:nvSpPr>
          <p:cNvPr id="28" name="Shape 24"/>
          <p:cNvSpPr/>
          <p:nvPr/>
        </p:nvSpPr>
        <p:spPr>
          <a:xfrm>
            <a:off x="4471416" y="3849624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5"/>
          <p:cNvSpPr/>
          <p:nvPr/>
        </p:nvSpPr>
        <p:spPr>
          <a:xfrm>
            <a:off x="4654296" y="3749040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digital access</a:t>
            </a:r>
            <a:endParaRPr lang="en-US" sz="960" dirty="0"/>
          </a:p>
        </p:txBody>
      </p:sp>
      <p:sp>
        <p:nvSpPr>
          <p:cNvPr id="30" name="Shape 26"/>
          <p:cNvSpPr/>
          <p:nvPr/>
        </p:nvSpPr>
        <p:spPr>
          <a:xfrm>
            <a:off x="7991856" y="150876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193024" y="170992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2" name="Image 2" descr="/home/claude/work/assets/icons/chartli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837944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769096" y="17099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Path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8769096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8193024" y="2532888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1"/>
          <p:cNvSpPr/>
          <p:nvPr/>
        </p:nvSpPr>
        <p:spPr>
          <a:xfrm>
            <a:off x="8375904" y="2432304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institutional licensing</a:t>
            </a:r>
            <a:endParaRPr lang="en-US" sz="960" dirty="0"/>
          </a:p>
        </p:txBody>
      </p:sp>
      <p:sp>
        <p:nvSpPr>
          <p:cNvPr id="37" name="Shape 32"/>
          <p:cNvSpPr/>
          <p:nvPr/>
        </p:nvSpPr>
        <p:spPr>
          <a:xfrm>
            <a:off x="8193024" y="2971800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8" name="Text 33"/>
          <p:cNvSpPr/>
          <p:nvPr/>
        </p:nvSpPr>
        <p:spPr>
          <a:xfrm>
            <a:off x="8375904" y="2871216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Assisted-service / kiosk deployments</a:t>
            </a:r>
            <a:endParaRPr lang="en-US" sz="960" dirty="0"/>
          </a:p>
        </p:txBody>
      </p:sp>
      <p:sp>
        <p:nvSpPr>
          <p:cNvPr id="39" name="Shape 34"/>
          <p:cNvSpPr/>
          <p:nvPr/>
        </p:nvSpPr>
        <p:spPr>
          <a:xfrm>
            <a:off x="8193024" y="341071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0" name="Text 35"/>
          <p:cNvSpPr/>
          <p:nvPr/>
        </p:nvSpPr>
        <p:spPr>
          <a:xfrm>
            <a:off x="8375904" y="3310128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with civic-tech orgs</a:t>
            </a:r>
            <a:endParaRPr lang="en-US" sz="960" dirty="0"/>
          </a:p>
        </p:txBody>
      </p:sp>
      <p:sp>
        <p:nvSpPr>
          <p:cNvPr id="41" name="Shape 36"/>
          <p:cNvSpPr/>
          <p:nvPr/>
        </p:nvSpPr>
        <p:spPr>
          <a:xfrm>
            <a:off x="8193024" y="3849624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2" name="Text 37"/>
          <p:cNvSpPr/>
          <p:nvPr/>
        </p:nvSpPr>
        <p:spPr>
          <a:xfrm>
            <a:off x="8375904" y="3749040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knowledge-assistant use</a:t>
            </a:r>
            <a:endParaRPr lang="en-US" sz="960" dirty="0"/>
          </a:p>
        </p:txBody>
      </p:sp>
      <p:sp>
        <p:nvSpPr>
          <p:cNvPr id="43" name="Shape 38"/>
          <p:cNvSpPr/>
          <p:nvPr/>
        </p:nvSpPr>
        <p:spPr>
          <a:xfrm>
            <a:off x="548640" y="4526280"/>
            <a:ext cx="11109960" cy="566928"/>
          </a:xfrm>
          <a:prstGeom prst="roundRect">
            <a:avLst>
              <a:gd name="adj" fmla="val 9677"/>
            </a:avLst>
          </a:prstGeom>
          <a:solidFill>
            <a:srgbClr val="0B4249"/>
          </a:solidFill>
          <a:ln/>
        </p:spPr>
      </p:sp>
      <p:sp>
        <p:nvSpPr>
          <p:cNvPr id="44" name="Text 39"/>
          <p:cNvSpPr/>
          <p:nvPr/>
        </p:nvSpPr>
        <p:spPr>
          <a:xfrm>
            <a:off x="777240" y="45262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  </a:t>
            </a:r>
            <a:r>
              <a:rPr lang="en-US" sz="10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 as a reusable platform  →  adapt verified service knowledge by department / geography  →  measure usage and outcomes.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548640" y="5230368"/>
            <a:ext cx="11109960" cy="457200"/>
          </a:xfrm>
          <a:prstGeom prst="roundRect">
            <a:avLst>
              <a:gd name="adj" fmla="val 12000"/>
            </a:avLst>
          </a:prstGeom>
          <a:solidFill>
            <a:srgbClr val="E4EEED"/>
          </a:solidFill>
          <a:ln/>
        </p:spPr>
      </p:sp>
      <p:sp>
        <p:nvSpPr>
          <p:cNvPr id="46" name="Text 41"/>
          <p:cNvSpPr/>
          <p:nvPr/>
        </p:nvSpPr>
        <p:spPr>
          <a:xfrm>
            <a:off x="777240" y="523036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Ecosystem:  Citizens  ↔  BharatAssist (AI · RAG · Privacy · UX)  ↔  Government / Info Owners  ↔  Help-desks &amp; Facilitators  ↔  Admins</a:t>
            </a:r>
            <a:endParaRPr lang="en-US" sz="980" dirty="0"/>
          </a:p>
        </p:txBody>
      </p:sp>
      <p:sp>
        <p:nvSpPr>
          <p:cNvPr id="47" name="Text 4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30175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6" name="Image 0" descr="/home/claude/work/assets/icons/users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1837944"/>
            <a:ext cx="256032" cy="2560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a deployable civic platform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87168" cy="27432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487168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2487168" cy="182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90472" y="2441448"/>
            <a:ext cx="603504" cy="603504"/>
          </a:xfrm>
          <a:prstGeom prst="ellipse">
            <a:avLst/>
          </a:prstGeom>
          <a:solidFill>
            <a:srgbClr val="F4F8F7"/>
          </a:solidFill>
          <a:ln/>
        </p:spPr>
      </p:sp>
      <p:pic>
        <p:nvPicPr>
          <p:cNvPr id="9" name="Image 0" descr="/home/claude/work/assets/icons/flag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348" y="2592324"/>
            <a:ext cx="301752" cy="3017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490472" y="2441448"/>
            <a:ext cx="603504" cy="603504"/>
          </a:xfrm>
          <a:prstGeom prst="ellipse">
            <a:avLst/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172968"/>
            <a:ext cx="21579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assistant + auth + history + multilingual + voice + RAG + privacy + tests</a:t>
            </a:r>
            <a:endParaRPr lang="en-US" sz="930" dirty="0"/>
          </a:p>
        </p:txBody>
      </p:sp>
      <p:pic>
        <p:nvPicPr>
          <p:cNvPr id="12" name="Image 1" descr="/home/claude/work/assets/icons/arrowright_0B42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2148840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36976" y="1691640"/>
            <a:ext cx="2487168" cy="27432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36976" y="1691640"/>
            <a:ext cx="2487168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15" name="Shape 11"/>
          <p:cNvSpPr/>
          <p:nvPr/>
        </p:nvSpPr>
        <p:spPr>
          <a:xfrm>
            <a:off x="3236976" y="1965960"/>
            <a:ext cx="2487168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2"/>
          <p:cNvSpPr/>
          <p:nvPr/>
        </p:nvSpPr>
        <p:spPr>
          <a:xfrm>
            <a:off x="3236976" y="169164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178808" y="2441448"/>
            <a:ext cx="603504" cy="603504"/>
          </a:xfrm>
          <a:prstGeom prst="ellipse">
            <a:avLst/>
          </a:prstGeom>
          <a:solidFill>
            <a:srgbClr val="F4F8F7"/>
          </a:solidFill>
          <a:ln/>
        </p:spPr>
      </p:sp>
      <p:pic>
        <p:nvPicPr>
          <p:cNvPr id="18" name="Image 2" descr="/home/claude/work/assets/icons/gear_00A8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2592324"/>
            <a:ext cx="301752" cy="30175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178808" y="2441448"/>
            <a:ext cx="603504" cy="603504"/>
          </a:xfrm>
          <a:prstGeom prst="ellipse">
            <a:avLst/>
          </a:prstGeom>
          <a:ln w="19050">
            <a:solidFill>
              <a:srgbClr val="00A89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401568" y="3172968"/>
            <a:ext cx="21579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login/OTP edge cases · strengthen Document Simplifier backend · refine UX</a:t>
            </a:r>
            <a:endParaRPr lang="en-US" sz="930" dirty="0"/>
          </a:p>
        </p:txBody>
      </p:sp>
      <p:pic>
        <p:nvPicPr>
          <p:cNvPr id="21" name="Image 3" descr="/home/claude/work/assets/icons/arrowright_0B42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2148840"/>
            <a:ext cx="201168" cy="20116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925312" y="1691640"/>
            <a:ext cx="2487168" cy="27432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925312" y="1691640"/>
            <a:ext cx="2487168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24" name="Shape 18"/>
          <p:cNvSpPr/>
          <p:nvPr/>
        </p:nvSpPr>
        <p:spPr>
          <a:xfrm>
            <a:off x="5925312" y="1965960"/>
            <a:ext cx="2487168" cy="1828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5" name="Text 19"/>
          <p:cNvSpPr/>
          <p:nvPr/>
        </p:nvSpPr>
        <p:spPr>
          <a:xfrm>
            <a:off x="5925312" y="169164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867144" y="2441448"/>
            <a:ext cx="603504" cy="603504"/>
          </a:xfrm>
          <a:prstGeom prst="ellipse">
            <a:avLst/>
          </a:prstGeom>
          <a:solidFill>
            <a:srgbClr val="F4F8F7"/>
          </a:solidFill>
          <a:ln/>
        </p:spPr>
      </p:sp>
      <p:pic>
        <p:nvPicPr>
          <p:cNvPr id="27" name="Image 4" descr="/home/claude/work/assets/icons/chartline_E8A3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2592324"/>
            <a:ext cx="301752" cy="30175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6867144" y="2441448"/>
            <a:ext cx="603504" cy="603504"/>
          </a:xfrm>
          <a:prstGeom prst="ellipse">
            <a:avLst/>
          </a:prstGeom>
          <a:ln w="19050">
            <a:solidFill>
              <a:srgbClr val="E8A33D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89904" y="3172968"/>
            <a:ext cx="21579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content workflows · richer service coverage · analytics · cloud deployment</a:t>
            </a:r>
            <a:endParaRPr lang="en-US" sz="930" dirty="0"/>
          </a:p>
        </p:txBody>
      </p:sp>
      <p:pic>
        <p:nvPicPr>
          <p:cNvPr id="30" name="Image 5" descr="/home/claude/work/assets/icons/arrowright_0B42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148840"/>
            <a:ext cx="201168" cy="201168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8613648" y="1691640"/>
            <a:ext cx="2487168" cy="27432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EEC"/>
            </a:solidFill>
            <a:prstDash val="solid"/>
          </a:ln>
          <a:effectLst>
            <a:outerShdw blurRad="88900" dist="25400" dir="5400000" algn="bl" rotWithShape="0">
              <a:srgbClr val="0B4249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613648" y="1691640"/>
            <a:ext cx="2487168" cy="457200"/>
          </a:xfrm>
          <a:prstGeom prst="roundRect">
            <a:avLst>
              <a:gd name="adj" fmla="val 16000"/>
            </a:avLst>
          </a:prstGeom>
          <a:solidFill>
            <a:srgbClr val="C1553A"/>
          </a:solidFill>
          <a:ln/>
        </p:spPr>
      </p:sp>
      <p:sp>
        <p:nvSpPr>
          <p:cNvPr id="33" name="Shape 25"/>
          <p:cNvSpPr/>
          <p:nvPr/>
        </p:nvSpPr>
        <p:spPr>
          <a:xfrm>
            <a:off x="8613648" y="1965960"/>
            <a:ext cx="2487168" cy="182880"/>
          </a:xfrm>
          <a:prstGeom prst="rect">
            <a:avLst/>
          </a:prstGeom>
          <a:solidFill>
            <a:srgbClr val="C1553A"/>
          </a:solidFill>
          <a:ln/>
        </p:spPr>
      </p:sp>
      <p:sp>
        <p:nvSpPr>
          <p:cNvPr id="34" name="Text 26"/>
          <p:cNvSpPr/>
          <p:nvPr/>
        </p:nvSpPr>
        <p:spPr>
          <a:xfrm>
            <a:off x="8613648" y="169164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9555480" y="2441448"/>
            <a:ext cx="603504" cy="603504"/>
          </a:xfrm>
          <a:prstGeom prst="ellipse">
            <a:avLst/>
          </a:prstGeom>
          <a:solidFill>
            <a:srgbClr val="F4F8F7"/>
          </a:solidFill>
          <a:ln/>
        </p:spPr>
      </p:sp>
      <p:pic>
        <p:nvPicPr>
          <p:cNvPr id="36" name="Image 6" descr="/home/claude/work/assets/icons/rocket_C155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6356" y="2592324"/>
            <a:ext cx="301752" cy="301752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9555480" y="2441448"/>
            <a:ext cx="603504" cy="603504"/>
          </a:xfrm>
          <a:prstGeom prst="ellipse">
            <a:avLst/>
          </a:prstGeom>
          <a:ln w="19050">
            <a:solidFill>
              <a:srgbClr val="C1553A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778240" y="3172968"/>
            <a:ext cx="21579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RTI drafting · scheme recommendations · document checklist · application tracking</a:t>
            </a:r>
            <a:endParaRPr lang="en-US" sz="930" dirty="0"/>
          </a:p>
        </p:txBody>
      </p:sp>
      <p:sp>
        <p:nvSpPr>
          <p:cNvPr id="39" name="Shape 30"/>
          <p:cNvSpPr/>
          <p:nvPr/>
        </p:nvSpPr>
        <p:spPr>
          <a:xfrm>
            <a:off x="548640" y="4709160"/>
            <a:ext cx="11109960" cy="658368"/>
          </a:xfrm>
          <a:prstGeom prst="roundRect">
            <a:avLst>
              <a:gd name="adj" fmla="val 9722"/>
            </a:avLst>
          </a:prstGeom>
          <a:solidFill>
            <a:srgbClr val="0B4249"/>
          </a:solidFill>
          <a:ln/>
        </p:spPr>
      </p:sp>
      <p:sp>
        <p:nvSpPr>
          <p:cNvPr id="40" name="Text 31"/>
          <p:cNvSpPr/>
          <p:nvPr/>
        </p:nvSpPr>
        <p:spPr>
          <a:xfrm>
            <a:off x="822960" y="47091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ENGINE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2880360" y="470916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releases  ·  automated testing  ·  feedback-driven refinement  ·  measurable outcomes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30175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42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914400"/>
            <a:ext cx="3291840" cy="3291840"/>
          </a:xfrm>
          <a:prstGeom prst="ellipse">
            <a:avLst/>
          </a:prstGeom>
          <a:solidFill>
            <a:srgbClr val="04303A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754880"/>
            <a:ext cx="2926080" cy="2926080"/>
          </a:xfrm>
          <a:prstGeom prst="ellipse">
            <a:avLst/>
          </a:prstGeom>
          <a:solidFill>
            <a:srgbClr val="0430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CLOSING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"What do I do?" to "I know what to do next."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BharatAssist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FD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citizen-first AI layer for navigating government information with clarity, context and care.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1481328" cy="1051560"/>
          </a:xfrm>
          <a:prstGeom prst="roundRect">
            <a:avLst>
              <a:gd name="adj" fmla="val 6087"/>
            </a:avLst>
          </a:prstGeom>
          <a:solidFill>
            <a:srgbClr val="04303A"/>
          </a:solidFill>
          <a:ln w="12700">
            <a:solidFill>
              <a:srgbClr val="19565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" y="3685032"/>
            <a:ext cx="402336" cy="402336"/>
          </a:xfrm>
          <a:prstGeom prst="ellipse">
            <a:avLst/>
          </a:prstGeom>
          <a:solidFill>
            <a:srgbClr val="0F535B"/>
          </a:solidFill>
          <a:ln/>
        </p:spPr>
      </p:sp>
      <p:pic>
        <p:nvPicPr>
          <p:cNvPr id="10" name="Image 0" descr="/home/claude/work/assets/icons/eye_02C3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102" y="3775558"/>
            <a:ext cx="221285" cy="22128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4178808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49424" y="3520440"/>
            <a:ext cx="1481328" cy="1051560"/>
          </a:xfrm>
          <a:prstGeom prst="roundRect">
            <a:avLst>
              <a:gd name="adj" fmla="val 6087"/>
            </a:avLst>
          </a:prstGeom>
          <a:solidFill>
            <a:srgbClr val="04303A"/>
          </a:solidFill>
          <a:ln w="12700">
            <a:solidFill>
              <a:srgbClr val="19565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88920" y="3685032"/>
            <a:ext cx="402336" cy="402336"/>
          </a:xfrm>
          <a:prstGeom prst="ellipse">
            <a:avLst/>
          </a:prstGeom>
          <a:solidFill>
            <a:srgbClr val="0F535B"/>
          </a:solidFill>
          <a:ln/>
        </p:spPr>
      </p:sp>
      <p:pic>
        <p:nvPicPr>
          <p:cNvPr id="14" name="Image 1" descr="/home/claude/work/assets/icons/link_02C3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446" y="3775558"/>
            <a:ext cx="221285" cy="22128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95144" y="4178808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858768" y="3520440"/>
            <a:ext cx="1481328" cy="1051560"/>
          </a:xfrm>
          <a:prstGeom prst="roundRect">
            <a:avLst>
              <a:gd name="adj" fmla="val 6087"/>
            </a:avLst>
          </a:prstGeom>
          <a:solidFill>
            <a:srgbClr val="04303A"/>
          </a:solidFill>
          <a:ln w="12700">
            <a:solidFill>
              <a:srgbClr val="19565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98264" y="3685032"/>
            <a:ext cx="402336" cy="402336"/>
          </a:xfrm>
          <a:prstGeom prst="ellipse">
            <a:avLst/>
          </a:prstGeom>
          <a:solidFill>
            <a:srgbClr val="0F535B"/>
          </a:solidFill>
          <a:ln/>
        </p:spPr>
      </p:sp>
      <p:pic>
        <p:nvPicPr>
          <p:cNvPr id="18" name="Image 2" descr="/home/claude/work/assets/icons/lock_E8A3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8790" y="3775558"/>
            <a:ext cx="221285" cy="22128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04488" y="4178808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68112" y="3520440"/>
            <a:ext cx="1481328" cy="1051560"/>
          </a:xfrm>
          <a:prstGeom prst="roundRect">
            <a:avLst>
              <a:gd name="adj" fmla="val 6087"/>
            </a:avLst>
          </a:prstGeom>
          <a:solidFill>
            <a:srgbClr val="04303A"/>
          </a:solidFill>
          <a:ln w="12700">
            <a:solidFill>
              <a:srgbClr val="19565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007608" y="3685032"/>
            <a:ext cx="402336" cy="402336"/>
          </a:xfrm>
          <a:prstGeom prst="ellipse">
            <a:avLst/>
          </a:prstGeom>
          <a:solidFill>
            <a:srgbClr val="0F535B"/>
          </a:solidFill>
          <a:ln/>
        </p:spPr>
      </p:sp>
      <p:pic>
        <p:nvPicPr>
          <p:cNvPr id="22" name="Image 3" descr="/home/claude/work/assets/icons/globe_02C3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8134" y="3775558"/>
            <a:ext cx="221285" cy="22128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13832" y="4178808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58368" y="4983480"/>
            <a:ext cx="18288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40080" y="5120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640080" y="5669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Lehar Arora  ·  Aastha Mahajan       UCS503P  ·  Thapar Institute of Engineering and Technology</a:t>
            </a:r>
            <a:endParaRPr lang="en-US" sz="1050" dirty="0"/>
          </a:p>
        </p:txBody>
      </p:sp>
      <p:pic>
        <p:nvPicPr>
          <p:cNvPr id="27" name="Image 4" descr="/home/claude/work/assets/illustrations/hero_clos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1417320"/>
            <a:ext cx="3840480" cy="3840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BFD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30175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BFD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1180</Words>
  <Application>Microsoft Office PowerPoint</Application>
  <PresentationFormat>Widescreen</PresentationFormat>
  <Paragraphs>241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Lehar Arora</cp:lastModifiedBy>
  <cp:revision>2</cp:revision>
  <dcterms:created xsi:type="dcterms:W3CDTF">2026-09-13T08:21:49Z</dcterms:created>
  <dcterms:modified xsi:type="dcterms:W3CDTF">2026-09-13T08:56:43Z</dcterms:modified>
</cp:coreProperties>
</file>